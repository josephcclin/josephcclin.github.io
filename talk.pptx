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310" r:id="rId3"/>
    <p:sldId id="257" r:id="rId4"/>
    <p:sldId id="311" r:id="rId5"/>
    <p:sldId id="312" r:id="rId6"/>
    <p:sldId id="315" r:id="rId7"/>
    <p:sldId id="431" r:id="rId8"/>
    <p:sldId id="387" r:id="rId9"/>
    <p:sldId id="313" r:id="rId10"/>
    <p:sldId id="389" r:id="rId11"/>
    <p:sldId id="433" r:id="rId12"/>
    <p:sldId id="314" r:id="rId13"/>
    <p:sldId id="432" r:id="rId14"/>
    <p:sldId id="258" r:id="rId15"/>
    <p:sldId id="259" r:id="rId16"/>
    <p:sldId id="260" r:id="rId17"/>
    <p:sldId id="261" r:id="rId18"/>
    <p:sldId id="397" r:id="rId19"/>
    <p:sldId id="398" r:id="rId20"/>
    <p:sldId id="374" r:id="rId21"/>
    <p:sldId id="377" r:id="rId22"/>
    <p:sldId id="401" r:id="rId23"/>
    <p:sldId id="402" r:id="rId24"/>
    <p:sldId id="403" r:id="rId25"/>
    <p:sldId id="404" r:id="rId26"/>
    <p:sldId id="405" r:id="rId27"/>
    <p:sldId id="406" r:id="rId28"/>
    <p:sldId id="407" r:id="rId29"/>
    <p:sldId id="408" r:id="rId30"/>
    <p:sldId id="409" r:id="rId31"/>
    <p:sldId id="410" r:id="rId32"/>
    <p:sldId id="399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391" r:id="rId47"/>
    <p:sldId id="395" r:id="rId48"/>
    <p:sldId id="394" r:id="rId49"/>
    <p:sldId id="392" r:id="rId50"/>
    <p:sldId id="393" r:id="rId51"/>
    <p:sldId id="396" r:id="rId52"/>
    <p:sldId id="434" r:id="rId53"/>
    <p:sldId id="262" r:id="rId54"/>
    <p:sldId id="263" r:id="rId55"/>
    <p:sldId id="264" r:id="rId56"/>
    <p:sldId id="265" r:id="rId57"/>
    <p:sldId id="362" r:id="rId58"/>
    <p:sldId id="364" r:id="rId59"/>
    <p:sldId id="365" r:id="rId60"/>
    <p:sldId id="366" r:id="rId61"/>
    <p:sldId id="367" r:id="rId62"/>
    <p:sldId id="333" r:id="rId63"/>
    <p:sldId id="334" r:id="rId64"/>
    <p:sldId id="385" r:id="rId65"/>
    <p:sldId id="341" r:id="rId66"/>
    <p:sldId id="266" r:id="rId67"/>
    <p:sldId id="340" r:id="rId68"/>
    <p:sldId id="435" r:id="rId6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8B12891-29BD-4D1A-8C01-A48690F8A5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78214C7-6121-487F-AFC3-0362B99D0F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3E2DD-6A18-4C5A-883C-F979168FB65E}" type="datetimeFigureOut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2796D0-524C-49F7-8C77-61A6ABD470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2DC0BC4-CC79-4773-AC66-5159EEB5A7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C78C0-7148-4286-B5DC-1CF27F8FCC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1439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B6722-E096-4D8D-85CA-DFD55371FC3E}" type="datetimeFigureOut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55936-E64D-40DF-BE52-CBED22697A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6817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61108-685D-4EED-BE14-9F036DE2F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A42BF8-5E6C-453E-89C1-FAB3CF771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5DFEDD-0B3D-4619-8801-FD338218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E4D86-9AAB-4CD0-9FC5-EA04DA555E4D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35F7B8-E1AE-4EFB-95D9-3A983E66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C57F19-7755-477B-85A3-103BD171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76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424B1-1C6C-440B-8AB4-BF515652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24919F-1A9E-49E4-92F6-8E7DE66CB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12A98E-8235-4EC9-BAD8-6B9D772C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64D3-7892-4258-ACBF-7A17B0218B8B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158FBF-F7F9-4C47-8DCD-D652D4A0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6176EE-3FBB-4279-A829-583DBC40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4357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E418C-23D0-42A7-9A86-D286DAF2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5F37FE-09AF-4DC0-A410-6482119B2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6E5CFE-8F0E-42C3-BAD3-4AAF0CBF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D987-61AA-4F01-AC29-AD2E4FF48D25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1389C3-A7FC-493B-8C28-ACAA85C4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03E903-1D03-4C99-BB27-1D11167A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607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3D3213-8EE8-4B41-AB1C-B0EC126D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0B0CD8-36AF-4EAF-978E-0FB89F32C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EF56C-6909-4403-BBD8-4C200C6C2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C74740-F08B-457A-A202-87502F6D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4CDB6-400F-4E93-9ACC-99557A040FBB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FFA24B-B3FF-4A10-AB2B-D7CE5FA5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FFDBFB-F2D9-4915-9571-0710CDC36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783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CCBFB-9547-41B7-9D0E-0130257F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111DAD-59A7-4F10-BEB5-86677E5C6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E18A8A-A1FA-493C-9C66-0638D42A4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5FCF0D-F760-4AB8-B81F-5EF224F33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EA0C34E-37FB-4922-B1B4-37C0A8D9E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A24E2DF-2F91-43CC-BF12-A2D8D42D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77B24-CFB6-41ED-A7B1-6FE9BBF0BA16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2710F9C-AB0C-4BFC-A169-3B1605A3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87CE85-60BF-4152-BD7E-997254D4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76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90BC1-73E2-477C-BD01-3C0B3877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0234760-56B3-408A-8E07-D9E69DDA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85B21-5406-4051-B47A-9AA198B69708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0D3393-73C7-4DAC-BC4A-4F6474E4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F13410-D76D-4D50-84C3-5750FFD4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44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80E2097-FA37-4B31-B089-FF7856C2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5E6-8480-45D8-8C2D-7C12E16FDDE0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B68DAE6-CA2B-49EF-B38F-57C4AD5E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AD8DDA-4499-41B9-A799-2C04CB42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10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1CB77-732E-4582-9B80-CD842578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5080CD-E1AE-4011-B57F-026BE0337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F05DCB-BA71-47B8-B47D-41124AFC8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7567FD-31E7-4DF2-8272-8E17DF31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5ED9-26A5-41C0-8B96-B9ED8D2CEA6E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26D371-E2D3-43FF-9295-1B76E2A1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287295-977A-4197-8165-DD5BF812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68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4669BB-035A-4FA7-95F4-3414BCCC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B0DA8A-10F4-49F0-BCAD-12A1D4AA07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8F7D7D-811A-41C6-B4B1-606473655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00D2D1-131A-4FAA-9455-25078495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B72F-AA1C-4218-B3D5-DB7EE26304F3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BDA15F-65E0-4758-AAF3-B2B3EED51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93C3C4-CB99-4F58-A534-79375B41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32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3F2824-B6E7-477D-AF75-9AE0D553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781385-0FEC-4C63-8EAA-9154D4EA9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E03472-806F-492B-B1C7-74705895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D59D8-E4C3-4E23-B0D1-DF358E82EF98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157436-3D18-4429-B41C-CB79FA7A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D326C-41AD-43EF-9E9A-A605ED38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91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1052334-5935-4BFF-8668-01BFCD0F4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5F776D-BBF9-443D-BAA0-91D5E240C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DFBCAB-0913-4FC5-8341-892B84C1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0DA0-1548-4698-8007-608EEDC91C41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65E975-714E-429F-BEED-4316A92A5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528090-1AFC-4191-9710-9CDE97A5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242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5081F7-3891-434F-99BB-EFA8AF2E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02C5EA-BC0E-4581-954F-3BD7C3397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ED4315-6830-4153-8303-C4E96C4DB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F77D8-DD5B-4EB5-80C4-D786EBFD0AA0}" type="datetime1">
              <a:rPr lang="zh-TW" altLang="en-US" smtClean="0"/>
              <a:t>2023/5/11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FF3634-64D0-4AAF-B078-5E7D23745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776396-B761-4302-91F8-F7F06E78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B7410-D12B-4474-9686-C2037F5B5DB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14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595E1-3C72-49C2-91C2-B86307757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Cryptographic Schemes under Quantum Supremacy and IoT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C0F08E-4B78-4FCE-B39C-4984F04FD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/>
              <a:t>National Taipei University</a:t>
            </a:r>
            <a:endParaRPr lang="en-US" altLang="zh-TW" dirty="0"/>
          </a:p>
          <a:p>
            <a:r>
              <a:rPr lang="en-US" altLang="zh-TW" dirty="0"/>
              <a:t>Assistant Professor</a:t>
            </a:r>
          </a:p>
          <a:p>
            <a:r>
              <a:rPr lang="en-US" altLang="zh-TW" dirty="0" err="1"/>
              <a:t>Shiu</a:t>
            </a:r>
            <a:r>
              <a:rPr lang="en-US" altLang="zh-TW" dirty="0"/>
              <a:t>, Hung-Jr (</a:t>
            </a:r>
            <a:r>
              <a:rPr lang="zh-TW" altLang="en-US" dirty="0"/>
              <a:t>許宏誌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BAC31D-0B96-49D4-B93F-F3C355908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45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4DB6D-09C4-4EF9-8865-E98CF47D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AE890E-1ECA-4C43-96E9-32B49AB9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Threats</a:t>
            </a:r>
          </a:p>
          <a:p>
            <a:endParaRPr lang="en-US" altLang="zh-TW" dirty="0"/>
          </a:p>
          <a:p>
            <a:r>
              <a:rPr lang="en-US" altLang="zh-TW" dirty="0"/>
              <a:t>Solutions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090641-C176-4EB2-A16C-24D3815F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851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78C007-457A-4E77-B5A3-760DE6F9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Threats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E933D8-714A-430E-8962-2607D38FD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Quantum Supremacy</a:t>
            </a:r>
          </a:p>
          <a:p>
            <a:pPr lvl="1"/>
            <a:r>
              <a:rPr lang="en-US" altLang="zh-TW" dirty="0"/>
              <a:t>Shor’s Algorithm</a:t>
            </a:r>
          </a:p>
          <a:p>
            <a:pPr lvl="2"/>
            <a:r>
              <a:rPr lang="en-US" altLang="zh-TW" dirty="0"/>
              <a:t>Threats to public-key crypto-systems</a:t>
            </a:r>
          </a:p>
          <a:p>
            <a:pPr lvl="1"/>
            <a:r>
              <a:rPr lang="en-US" altLang="zh-TW" dirty="0"/>
              <a:t>Grover’s Algorithm</a:t>
            </a:r>
          </a:p>
          <a:p>
            <a:pPr lvl="2"/>
            <a:r>
              <a:rPr lang="en-US" altLang="zh-TW" dirty="0"/>
              <a:t>Security-level shrinkage of private-key crypto-systems</a:t>
            </a:r>
            <a:endParaRPr lang="zh-TW" altLang="en-US" dirty="0"/>
          </a:p>
          <a:p>
            <a:endParaRPr lang="en-US" altLang="zh-TW" dirty="0"/>
          </a:p>
          <a:p>
            <a:r>
              <a:rPr lang="en-US" altLang="zh-TW" dirty="0"/>
              <a:t>Internet Of Things</a:t>
            </a:r>
          </a:p>
          <a:p>
            <a:pPr lvl="1"/>
            <a:r>
              <a:rPr lang="en-US" altLang="zh-TW" dirty="0"/>
              <a:t>Side-Channel Attack for private-key crypto-systems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9B50AD-A161-4879-902A-D3E622CF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311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9BCFC-5085-48DE-928F-4D66C8D6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dirty="0"/>
            </a:br>
            <a:r>
              <a:rPr lang="en-US" altLang="zh-TW" dirty="0"/>
              <a:t>Shor’s Algorithm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6E4389-E1EB-4389-84CD-7A3C2F322578}"/>
              </a:ext>
            </a:extLst>
          </p:cNvPr>
          <p:cNvSpPr/>
          <p:nvPr/>
        </p:nvSpPr>
        <p:spPr>
          <a:xfrm>
            <a:off x="6708418" y="5085184"/>
            <a:ext cx="1656184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354D3E6-8C52-4855-B4C2-B856EBDF9BB4}"/>
              </a:ext>
            </a:extLst>
          </p:cNvPr>
          <p:cNvSpPr/>
          <p:nvPr/>
        </p:nvSpPr>
        <p:spPr>
          <a:xfrm>
            <a:off x="3468058" y="5085184"/>
            <a:ext cx="1656184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492BBF37-DE4F-418C-8238-8E7E933A2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554" y="1835092"/>
            <a:ext cx="8229600" cy="4525963"/>
          </a:xfrm>
        </p:spPr>
        <p:txBody>
          <a:bodyPr>
            <a:normAutofit/>
          </a:bodyPr>
          <a:lstStyle/>
          <a:p>
            <a:pPr lvl="1"/>
            <a:r>
              <a:rPr lang="en-US" altLang="zh-TW" dirty="0"/>
              <a:t>Input: an odd composite number </a:t>
            </a:r>
            <a:r>
              <a:rPr lang="en-US" altLang="zh-TW" i="1" dirty="0"/>
              <a:t>N </a:t>
            </a:r>
            <a:r>
              <a:rPr lang="en-US" altLang="zh-TW" dirty="0"/>
              <a:t>with </a:t>
            </a:r>
            <a:r>
              <a:rPr lang="en-US" altLang="zh-TW" i="1" dirty="0"/>
              <a:t>n</a:t>
            </a:r>
            <a:r>
              <a:rPr lang="en-US" altLang="zh-TW" dirty="0"/>
              <a:t> bits</a:t>
            </a:r>
            <a:endParaRPr lang="en-US" altLang="zh-TW" i="1" dirty="0"/>
          </a:p>
          <a:p>
            <a:pPr lvl="1"/>
            <a:r>
              <a:rPr lang="en-US" altLang="zh-TW" dirty="0"/>
              <a:t>Output: a non-trivial factorization of </a:t>
            </a:r>
            <a:r>
              <a:rPr lang="en-US" altLang="zh-TW" i="1" dirty="0"/>
              <a:t>N</a:t>
            </a:r>
            <a:r>
              <a:rPr lang="en-US" altLang="zh-TW" dirty="0"/>
              <a:t> with some probability</a:t>
            </a:r>
          </a:p>
          <a:p>
            <a:pPr lvl="1"/>
            <a:r>
              <a:rPr lang="en-US" altLang="zh-TW" dirty="0"/>
              <a:t>quantum parallelism</a:t>
            </a:r>
          </a:p>
          <a:p>
            <a:pPr lvl="1"/>
            <a:r>
              <a:rPr lang="en-US" altLang="zh-TW" dirty="0"/>
              <a:t>Reduce to order-finding problem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48A8A565-A657-484F-B8CB-EDB2F2F6905D}"/>
              </a:ext>
            </a:extLst>
          </p:cNvPr>
          <p:cNvCxnSpPr>
            <a:stCxn id="16" idx="3"/>
          </p:cNvCxnSpPr>
          <p:nvPr/>
        </p:nvCxnSpPr>
        <p:spPr>
          <a:xfrm>
            <a:off x="5124242" y="5625244"/>
            <a:ext cx="158417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C4607552-4FAD-4947-9E6F-FA0D1B70AC4B}"/>
              </a:ext>
            </a:extLst>
          </p:cNvPr>
          <p:cNvCxnSpPr>
            <a:stCxn id="15" idx="3"/>
          </p:cNvCxnSpPr>
          <p:nvPr/>
        </p:nvCxnSpPr>
        <p:spPr>
          <a:xfrm>
            <a:off x="8364602" y="5625244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4D04BF1-E668-4E59-9101-100D2EBADCF6}"/>
              </a:ext>
            </a:extLst>
          </p:cNvPr>
          <p:cNvCxnSpPr>
            <a:endCxn id="16" idx="1"/>
          </p:cNvCxnSpPr>
          <p:nvPr/>
        </p:nvCxnSpPr>
        <p:spPr>
          <a:xfrm>
            <a:off x="2315930" y="5625244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1EB0AEF-DE95-4531-AA97-A86B168C9C2E}"/>
              </a:ext>
            </a:extLst>
          </p:cNvPr>
          <p:cNvSpPr txBox="1"/>
          <p:nvPr/>
        </p:nvSpPr>
        <p:spPr>
          <a:xfrm>
            <a:off x="1852164" y="5085184"/>
            <a:ext cx="1471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Big number </a:t>
            </a:r>
            <a:r>
              <a:rPr lang="en-US" altLang="zh-TW" i="1" dirty="0"/>
              <a:t>N</a:t>
            </a:r>
            <a:endParaRPr lang="zh-TW" altLang="en-US" i="1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D4E9C0F-19EB-4431-8A54-DDE9389C07AD}"/>
              </a:ext>
            </a:extLst>
          </p:cNvPr>
          <p:cNvSpPr txBox="1"/>
          <p:nvPr/>
        </p:nvSpPr>
        <p:spPr>
          <a:xfrm>
            <a:off x="3684082" y="5301208"/>
            <a:ext cx="11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Quantum </a:t>
            </a:r>
          </a:p>
          <a:p>
            <a:r>
              <a:rPr lang="en-US" altLang="zh-TW" dirty="0"/>
              <a:t>Computer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DF88B29B-0E2E-447C-B7B6-342DEFF04A61}"/>
              </a:ext>
            </a:extLst>
          </p:cNvPr>
          <p:cNvSpPr txBox="1"/>
          <p:nvPr/>
        </p:nvSpPr>
        <p:spPr>
          <a:xfrm>
            <a:off x="7020256" y="5301208"/>
            <a:ext cx="11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Classical</a:t>
            </a:r>
          </a:p>
          <a:p>
            <a:r>
              <a:rPr lang="en-US" altLang="zh-TW" dirty="0"/>
              <a:t>Computer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3D822943-CF9F-4680-8678-9DE9485F7C70}"/>
              </a:ext>
            </a:extLst>
          </p:cNvPr>
          <p:cNvSpPr txBox="1"/>
          <p:nvPr/>
        </p:nvSpPr>
        <p:spPr>
          <a:xfrm>
            <a:off x="5164532" y="5013176"/>
            <a:ext cx="145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Order-finding</a:t>
            </a:r>
          </a:p>
          <a:p>
            <a:r>
              <a:rPr lang="en-US" altLang="zh-TW" dirty="0"/>
              <a:t>solution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A9E5513-F362-4820-86B3-0442842DF4CB}"/>
              </a:ext>
            </a:extLst>
          </p:cNvPr>
          <p:cNvSpPr txBox="1"/>
          <p:nvPr/>
        </p:nvSpPr>
        <p:spPr>
          <a:xfrm>
            <a:off x="8503066" y="5151675"/>
            <a:ext cx="1216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Factor of </a:t>
            </a:r>
            <a:r>
              <a:rPr lang="en-US" altLang="zh-TW" i="1" dirty="0"/>
              <a:t>N</a:t>
            </a:r>
            <a:endParaRPr lang="zh-TW" altLang="en-US" i="1" dirty="0"/>
          </a:p>
        </p:txBody>
      </p:sp>
      <p:sp>
        <p:nvSpPr>
          <p:cNvPr id="26" name="投影片編號版面配置區 25">
            <a:extLst>
              <a:ext uri="{FF2B5EF4-FFF2-40B4-BE49-F238E27FC236}">
                <a16:creationId xmlns:a16="http://schemas.microsoft.com/office/drawing/2014/main" id="{213F6632-0F00-4462-9DA5-53C15659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78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1B79AD-ED76-44FF-93EF-AB6003172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01BB23-F6D8-4A57-8A1A-8212EFE0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Modular exponential: </a:t>
            </a:r>
            <a:r>
              <a:rPr lang="zh-TW" altLang="en-US" dirty="0">
                <a:latin typeface="Cambria Math"/>
              </a:rPr>
              <a:t>𝚹</a:t>
            </a:r>
            <a:r>
              <a:rPr lang="en-US" altLang="zh-TW" dirty="0">
                <a:latin typeface="Cambria Math"/>
              </a:rPr>
              <a:t>(</a:t>
            </a:r>
            <a:r>
              <a:rPr lang="en-US" altLang="zh-TW" i="1" dirty="0">
                <a:latin typeface="Cambria Math"/>
              </a:rPr>
              <a:t>n</a:t>
            </a:r>
            <a:r>
              <a:rPr lang="en-US" altLang="zh-TW" baseline="30000" dirty="0">
                <a:latin typeface="Cambria Math"/>
              </a:rPr>
              <a:t>3</a:t>
            </a:r>
            <a:r>
              <a:rPr lang="en-US" altLang="zh-TW" dirty="0">
                <a:latin typeface="Cambria Math"/>
              </a:rPr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Quantum Fourier Transform (QFT):</a:t>
            </a:r>
            <a:r>
              <a:rPr lang="zh-TW" altLang="en-US" dirty="0">
                <a:latin typeface="Cambria Math"/>
              </a:rPr>
              <a:t>𝚹</a:t>
            </a:r>
            <a:r>
              <a:rPr lang="en-US" altLang="zh-TW" dirty="0">
                <a:latin typeface="Cambria Math"/>
              </a:rPr>
              <a:t>(</a:t>
            </a:r>
            <a:r>
              <a:rPr lang="en-US" altLang="zh-TW" i="1" dirty="0">
                <a:latin typeface="Cambria Math"/>
              </a:rPr>
              <a:t>n</a:t>
            </a:r>
            <a:r>
              <a:rPr lang="en-US" altLang="zh-TW" baseline="30000" dirty="0">
                <a:latin typeface="Cambria Math"/>
              </a:rPr>
              <a:t>2</a:t>
            </a:r>
            <a:r>
              <a:rPr lang="en-US" altLang="zh-TW" dirty="0">
                <a:latin typeface="Cambria Math"/>
              </a:rPr>
              <a:t>)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Succeed probability: </a:t>
            </a:r>
            <a:r>
              <a:rPr lang="zh-TW" altLang="en-US" dirty="0">
                <a:latin typeface="Cambria Math"/>
              </a:rPr>
              <a:t>𝛀</a:t>
            </a:r>
            <a:r>
              <a:rPr lang="en-US" altLang="zh-TW" dirty="0">
                <a:latin typeface="Cambria Math"/>
              </a:rPr>
              <a:t>(1/log </a:t>
            </a:r>
            <a:r>
              <a:rPr lang="en-US" altLang="zh-TW" i="1" dirty="0">
                <a:latin typeface="Cambria Math"/>
              </a:rPr>
              <a:t>n</a:t>
            </a:r>
            <a:r>
              <a:rPr lang="en-US" altLang="zh-TW" dirty="0">
                <a:latin typeface="Cambria Math"/>
              </a:rPr>
              <a:t>)</a:t>
            </a:r>
          </a:p>
          <a:p>
            <a:endParaRPr lang="en-US" altLang="zh-TW" dirty="0">
              <a:latin typeface="Cambria Math"/>
            </a:endParaRPr>
          </a:p>
          <a:p>
            <a:r>
              <a:rPr lang="en-US" altLang="zh-TW" dirty="0">
                <a:latin typeface="Cambria Math"/>
              </a:rPr>
              <a:t>Total time complexity is O(</a:t>
            </a:r>
            <a:r>
              <a:rPr lang="en-US" altLang="zh-TW" i="1" dirty="0">
                <a:latin typeface="Cambria Math"/>
              </a:rPr>
              <a:t>n</a:t>
            </a:r>
            <a:r>
              <a:rPr lang="en-US" altLang="zh-TW" baseline="30000" dirty="0">
                <a:latin typeface="Cambria Math"/>
              </a:rPr>
              <a:t>3</a:t>
            </a:r>
            <a:r>
              <a:rPr lang="en-US" altLang="zh-TW" dirty="0">
                <a:latin typeface="Cambria Math"/>
              </a:rPr>
              <a:t>log </a:t>
            </a:r>
            <a:r>
              <a:rPr lang="en-US" altLang="zh-TW" i="1" dirty="0">
                <a:latin typeface="Cambria Math"/>
              </a:rPr>
              <a:t>n</a:t>
            </a:r>
            <a:r>
              <a:rPr lang="en-US" altLang="zh-TW" dirty="0">
                <a:latin typeface="Cambria Math"/>
              </a:rPr>
              <a:t>).</a:t>
            </a:r>
          </a:p>
          <a:p>
            <a:endParaRPr lang="en-US" altLang="zh-TW" dirty="0">
              <a:latin typeface="Cambria Math"/>
            </a:endParaRPr>
          </a:p>
          <a:p>
            <a:r>
              <a:rPr lang="en-US" altLang="zh-TW" dirty="0">
                <a:latin typeface="Cambria Math"/>
              </a:rPr>
              <a:t>Need </a:t>
            </a:r>
            <a:r>
              <a:rPr lang="en-US" altLang="zh-TW" b="1" dirty="0">
                <a:latin typeface="Cambria Math"/>
              </a:rPr>
              <a:t>3</a:t>
            </a:r>
            <a:r>
              <a:rPr lang="en-US" altLang="zh-TW" b="1" i="1" dirty="0">
                <a:latin typeface="Cambria Math"/>
              </a:rPr>
              <a:t>n</a:t>
            </a:r>
            <a:r>
              <a:rPr lang="en-US" altLang="zh-TW" dirty="0">
                <a:latin typeface="Cambria Math"/>
              </a:rPr>
              <a:t>  qubits in total.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450E3C-79F2-4D56-AD83-64CBC0F5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32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D87A259-0159-4092-AF71-77B5A6121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943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Q. Threats</a:t>
            </a:r>
            <a:endParaRPr lang="zh-TW" altLang="en-US" dirty="0"/>
          </a:p>
        </p:txBody>
      </p:sp>
      <p:graphicFrame>
        <p:nvGraphicFramePr>
          <p:cNvPr id="5" name="內容版面配置區 6">
            <a:extLst>
              <a:ext uri="{FF2B5EF4-FFF2-40B4-BE49-F238E27FC236}">
                <a16:creationId xmlns:a16="http://schemas.microsoft.com/office/drawing/2014/main" id="{D93528FE-2F73-4F4C-B6DA-2ED14D809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5899720"/>
              </p:ext>
            </p:extLst>
          </p:nvPr>
        </p:nvGraphicFramePr>
        <p:xfrm>
          <a:off x="2025943" y="1484784"/>
          <a:ext cx="8229606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1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4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algorithm\security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</a:t>
                      </a:r>
                      <a:r>
                        <a:rPr lang="en-US" altLang="zh-TW" sz="2400" baseline="30000" dirty="0"/>
                        <a:t>80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</a:t>
                      </a:r>
                      <a:r>
                        <a:rPr lang="en-US" altLang="zh-TW" sz="2400" baseline="30000" dirty="0"/>
                        <a:t>112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</a:t>
                      </a:r>
                      <a:r>
                        <a:rPr lang="en-US" altLang="zh-TW" sz="2400" baseline="30000" dirty="0"/>
                        <a:t>128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</a:t>
                      </a:r>
                      <a:r>
                        <a:rPr lang="en-US" altLang="zh-TW" sz="2400" baseline="30000" dirty="0"/>
                        <a:t>192</a:t>
                      </a:r>
                      <a:endParaRPr lang="zh-TW" altLang="en-US" sz="24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</a:t>
                      </a:r>
                      <a:r>
                        <a:rPr lang="en-US" altLang="zh-TW" sz="2400" baseline="30000" dirty="0"/>
                        <a:t>256</a:t>
                      </a:r>
                      <a:endParaRPr lang="zh-TW" altLang="en-US" sz="24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RSA key length (bits)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1024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2048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3072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7680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15360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ECC key length (bits)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160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224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256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384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512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Key length ratio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6:1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9:1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12:1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20:1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30:1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RSA</a:t>
                      </a:r>
                      <a:r>
                        <a:rPr lang="en-US" altLang="zh-TW" sz="2400" baseline="0" dirty="0"/>
                        <a:t> </a:t>
                      </a:r>
                      <a:r>
                        <a:rPr lang="en-US" altLang="zh-TW" sz="2400" dirty="0"/>
                        <a:t>signature length (bytes)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384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960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1920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ECDSA</a:t>
                      </a:r>
                      <a:r>
                        <a:rPr lang="en-US" altLang="zh-TW" sz="2400" baseline="0" dirty="0"/>
                        <a:t> length (bytes)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64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96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132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err="1"/>
                        <a:t>qubits</a:t>
                      </a:r>
                      <a:r>
                        <a:rPr lang="en-US" altLang="zh-TW" sz="2400" dirty="0"/>
                        <a:t> to break (RSA)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3072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6144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9216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23040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46080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400" dirty="0" err="1"/>
                        <a:t>qubits</a:t>
                      </a:r>
                      <a:r>
                        <a:rPr lang="en-US" altLang="zh-TW" sz="2400" dirty="0"/>
                        <a:t> to break (ECC)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480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672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768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1152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/>
                        <a:t>1536</a:t>
                      </a:r>
                      <a:endParaRPr lang="zh-TW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CD41687-2F86-4434-B598-010ED2A40C50}"/>
              </a:ext>
            </a:extLst>
          </p:cNvPr>
          <p:cNvSpPr txBox="1"/>
          <p:nvPr/>
        </p:nvSpPr>
        <p:spPr>
          <a:xfrm>
            <a:off x="2620407" y="5517232"/>
            <a:ext cx="6832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Google and IBM now have 50~70 </a:t>
            </a:r>
            <a:r>
              <a:rPr lang="en-US" altLang="zh-TW" sz="3200" dirty="0" err="1"/>
              <a:t>qubits</a:t>
            </a:r>
            <a:endParaRPr lang="zh-TW" altLang="en-US" sz="3200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0D0622-9FF1-4811-A5D4-B552FEAA1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8819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Standards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2C1CA6BF-8918-49E4-A6B0-47A319B334E6}"/>
              </a:ext>
            </a:extLst>
          </p:cNvPr>
          <p:cNvGrpSpPr/>
          <p:nvPr/>
        </p:nvGrpSpPr>
        <p:grpSpPr>
          <a:xfrm>
            <a:off x="1950885" y="1123479"/>
            <a:ext cx="8232689" cy="5300592"/>
            <a:chOff x="1985852" y="1828800"/>
            <a:chExt cx="6351075" cy="4089121"/>
          </a:xfrm>
        </p:grpSpPr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156CB231-A42C-43C1-9DC9-F93A45CF2FFF}"/>
                </a:ext>
              </a:extLst>
            </p:cNvPr>
            <p:cNvSpPr txBox="1"/>
            <p:nvPr/>
          </p:nvSpPr>
          <p:spPr>
            <a:xfrm>
              <a:off x="3953395" y="1828800"/>
              <a:ext cx="2278066" cy="231497"/>
            </a:xfrm>
            <a:prstGeom prst="rect">
              <a:avLst/>
            </a:prstGeom>
            <a:solidFill>
              <a:srgbClr val="FFC000"/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NIST Crypto standards</a:t>
              </a:r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3D80A588-7AEF-45B3-9028-F56597F01F7A}"/>
                </a:ext>
              </a:extLst>
            </p:cNvPr>
            <p:cNvSpPr txBox="1"/>
            <p:nvPr/>
          </p:nvSpPr>
          <p:spPr>
            <a:xfrm>
              <a:off x="1985852" y="2739406"/>
              <a:ext cx="1708550" cy="231497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Public key based</a:t>
              </a:r>
            </a:p>
          </p:txBody>
        </p:sp>
        <p:cxnSp>
          <p:nvCxnSpPr>
            <p:cNvPr id="8" name="Straight Connector 6">
              <a:extLst>
                <a:ext uri="{FF2B5EF4-FFF2-40B4-BE49-F238E27FC236}">
                  <a16:creationId xmlns:a16="http://schemas.microsoft.com/office/drawing/2014/main" id="{470E0CF1-CEE4-4F8E-8C60-4216F7D17C75}"/>
                </a:ext>
              </a:extLst>
            </p:cNvPr>
            <p:cNvCxnSpPr/>
            <p:nvPr/>
          </p:nvCxnSpPr>
          <p:spPr>
            <a:xfrm>
              <a:off x="2998327" y="2461959"/>
              <a:ext cx="420831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7">
              <a:extLst>
                <a:ext uri="{FF2B5EF4-FFF2-40B4-BE49-F238E27FC236}">
                  <a16:creationId xmlns:a16="http://schemas.microsoft.com/office/drawing/2014/main" id="{CAA2C1B2-1118-42DE-AA39-A29794FD2066}"/>
                </a:ext>
              </a:extLst>
            </p:cNvPr>
            <p:cNvCxnSpPr/>
            <p:nvPr/>
          </p:nvCxnSpPr>
          <p:spPr>
            <a:xfrm>
              <a:off x="2998326" y="2461958"/>
              <a:ext cx="0" cy="2774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8">
              <a:extLst>
                <a:ext uri="{FF2B5EF4-FFF2-40B4-BE49-F238E27FC236}">
                  <a16:creationId xmlns:a16="http://schemas.microsoft.com/office/drawing/2014/main" id="{7AE6F022-3CBF-49BB-8BDA-ED21142B71E6}"/>
                </a:ext>
              </a:extLst>
            </p:cNvPr>
            <p:cNvCxnSpPr>
              <a:endCxn id="20" idx="0"/>
            </p:cNvCxnSpPr>
            <p:nvPr/>
          </p:nvCxnSpPr>
          <p:spPr>
            <a:xfrm>
              <a:off x="5215374" y="2468618"/>
              <a:ext cx="1" cy="2296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9">
              <a:extLst>
                <a:ext uri="{FF2B5EF4-FFF2-40B4-BE49-F238E27FC236}">
                  <a16:creationId xmlns:a16="http://schemas.microsoft.com/office/drawing/2014/main" id="{F6689BFA-2FF2-445F-9416-2A3E722DAC8C}"/>
                </a:ext>
              </a:extLst>
            </p:cNvPr>
            <p:cNvCxnSpPr>
              <a:stCxn id="6" idx="2"/>
            </p:cNvCxnSpPr>
            <p:nvPr/>
          </p:nvCxnSpPr>
          <p:spPr>
            <a:xfrm>
              <a:off x="5092428" y="2060297"/>
              <a:ext cx="0" cy="392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FA208371-0FCD-4DFD-AD3C-DB14D76E54F6}"/>
                </a:ext>
              </a:extLst>
            </p:cNvPr>
            <p:cNvSpPr txBox="1"/>
            <p:nvPr/>
          </p:nvSpPr>
          <p:spPr>
            <a:xfrm>
              <a:off x="2208605" y="3316276"/>
              <a:ext cx="1455431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Signature (FIPS 186)</a:t>
              </a: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04221602-6762-4B07-8979-67BD5B9326E3}"/>
                </a:ext>
              </a:extLst>
            </p:cNvPr>
            <p:cNvSpPr txBox="1"/>
            <p:nvPr/>
          </p:nvSpPr>
          <p:spPr>
            <a:xfrm>
              <a:off x="2254795" y="3808619"/>
              <a:ext cx="1455431" cy="40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establishment (800-56A/B/C)</a:t>
              </a:r>
            </a:p>
          </p:txBody>
        </p:sp>
        <p:cxnSp>
          <p:nvCxnSpPr>
            <p:cNvPr id="14" name="Straight Connector 12">
              <a:extLst>
                <a:ext uri="{FF2B5EF4-FFF2-40B4-BE49-F238E27FC236}">
                  <a16:creationId xmlns:a16="http://schemas.microsoft.com/office/drawing/2014/main" id="{22820293-4A8F-4AE8-A2ED-109CC5D9CF77}"/>
                </a:ext>
              </a:extLst>
            </p:cNvPr>
            <p:cNvCxnSpPr/>
            <p:nvPr/>
          </p:nvCxnSpPr>
          <p:spPr>
            <a:xfrm>
              <a:off x="2064340" y="3103516"/>
              <a:ext cx="0" cy="16372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860AFDA0-4140-4C85-BCF9-DB90E498E0D6}"/>
                </a:ext>
              </a:extLst>
            </p:cNvPr>
            <p:cNvSpPr txBox="1"/>
            <p:nvPr/>
          </p:nvSpPr>
          <p:spPr>
            <a:xfrm>
              <a:off x="2428810" y="4637096"/>
              <a:ext cx="1756009" cy="231497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Tools</a:t>
              </a:r>
            </a:p>
          </p:txBody>
        </p:sp>
        <p:cxnSp>
          <p:nvCxnSpPr>
            <p:cNvPr id="16" name="Straight Connector 14">
              <a:extLst>
                <a:ext uri="{FF2B5EF4-FFF2-40B4-BE49-F238E27FC236}">
                  <a16:creationId xmlns:a16="http://schemas.microsoft.com/office/drawing/2014/main" id="{72161AC5-D15C-4A3C-9EFD-63BEAF90F001}"/>
                </a:ext>
              </a:extLst>
            </p:cNvPr>
            <p:cNvCxnSpPr/>
            <p:nvPr/>
          </p:nvCxnSpPr>
          <p:spPr>
            <a:xfrm>
              <a:off x="3947521" y="2461959"/>
              <a:ext cx="0" cy="217513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5">
              <a:extLst>
                <a:ext uri="{FF2B5EF4-FFF2-40B4-BE49-F238E27FC236}">
                  <a16:creationId xmlns:a16="http://schemas.microsoft.com/office/drawing/2014/main" id="{B5E61FE7-AC79-4396-8D8C-7BC4DF017844}"/>
                </a:ext>
              </a:extLst>
            </p:cNvPr>
            <p:cNvCxnSpPr/>
            <p:nvPr/>
          </p:nvCxnSpPr>
          <p:spPr>
            <a:xfrm>
              <a:off x="2555317" y="5033772"/>
              <a:ext cx="0" cy="8180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2725A87A-214F-4B18-A7B6-0B859A98DF1D}"/>
                </a:ext>
              </a:extLst>
            </p:cNvPr>
            <p:cNvSpPr txBox="1"/>
            <p:nvPr/>
          </p:nvSpPr>
          <p:spPr>
            <a:xfrm>
              <a:off x="2758315" y="5121920"/>
              <a:ext cx="142650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RNG (800-90A/B/C)</a:t>
              </a:r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F33395C3-7426-49E0-BB48-FB0F1DBB783C}"/>
                </a:ext>
              </a:extLst>
            </p:cNvPr>
            <p:cNvSpPr txBox="1"/>
            <p:nvPr/>
          </p:nvSpPr>
          <p:spPr>
            <a:xfrm>
              <a:off x="2758315" y="5402078"/>
              <a:ext cx="163216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KDF (800-108, 800-135)</a:t>
              </a:r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85FCB1DD-8DC8-4573-826F-409E8870B3F4}"/>
                </a:ext>
              </a:extLst>
            </p:cNvPr>
            <p:cNvSpPr txBox="1"/>
            <p:nvPr/>
          </p:nvSpPr>
          <p:spPr>
            <a:xfrm>
              <a:off x="4234541" y="2698312"/>
              <a:ext cx="1961668" cy="23149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Symmetric key based</a:t>
              </a:r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EF0A6B70-79AF-4344-9114-858AB6CDFB2B}"/>
                </a:ext>
              </a:extLst>
            </p:cNvPr>
            <p:cNvSpPr txBox="1"/>
            <p:nvPr/>
          </p:nvSpPr>
          <p:spPr>
            <a:xfrm>
              <a:off x="4547508" y="3241662"/>
              <a:ext cx="143716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AES  (FIPS 197 ) </a:t>
              </a:r>
            </a:p>
            <a:p>
              <a:r>
                <a:rPr lang="en-US" sz="1400" dirty="0"/>
                <a:t>TDEA (800-67)</a:t>
              </a:r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4B71B38C-3B1B-402E-AF46-E92FC5FC2E07}"/>
                </a:ext>
              </a:extLst>
            </p:cNvPr>
            <p:cNvSpPr txBox="1"/>
            <p:nvPr/>
          </p:nvSpPr>
          <p:spPr>
            <a:xfrm>
              <a:off x="4558167" y="3638656"/>
              <a:ext cx="142650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Modes  of operations (800 38A-38G)</a:t>
              </a:r>
            </a:p>
          </p:txBody>
        </p:sp>
        <p:sp>
          <p:nvSpPr>
            <p:cNvPr id="23" name="TextBox 21">
              <a:extLst>
                <a:ext uri="{FF2B5EF4-FFF2-40B4-BE49-F238E27FC236}">
                  <a16:creationId xmlns:a16="http://schemas.microsoft.com/office/drawing/2014/main" id="{0F2D3EFC-D23C-47C3-BD10-ADB4817DEEC5}"/>
                </a:ext>
              </a:extLst>
            </p:cNvPr>
            <p:cNvSpPr txBox="1"/>
            <p:nvPr/>
          </p:nvSpPr>
          <p:spPr>
            <a:xfrm>
              <a:off x="4548676" y="4220431"/>
              <a:ext cx="1682787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SHA-1/2 (FIPS 180) and SHA-3 (FIPS 202)</a:t>
              </a:r>
            </a:p>
          </p:txBody>
        </p:sp>
        <p:sp>
          <p:nvSpPr>
            <p:cNvPr id="24" name="TextBox 22">
              <a:extLst>
                <a:ext uri="{FF2B5EF4-FFF2-40B4-BE49-F238E27FC236}">
                  <a16:creationId xmlns:a16="http://schemas.microsoft.com/office/drawing/2014/main" id="{160075DD-1AF4-4EE6-91D5-99FBCAAD75F5}"/>
                </a:ext>
              </a:extLst>
            </p:cNvPr>
            <p:cNvSpPr txBox="1"/>
            <p:nvPr/>
          </p:nvSpPr>
          <p:spPr>
            <a:xfrm>
              <a:off x="4558169" y="5080825"/>
              <a:ext cx="142650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HMAC (FIPS 198</a:t>
              </a:r>
              <a:r>
                <a:rPr lang="en-US" sz="1050" dirty="0"/>
                <a:t>)</a:t>
              </a:r>
            </a:p>
          </p:txBody>
        </p:sp>
        <p:cxnSp>
          <p:nvCxnSpPr>
            <p:cNvPr id="25" name="Straight Connector 23">
              <a:extLst>
                <a:ext uri="{FF2B5EF4-FFF2-40B4-BE49-F238E27FC236}">
                  <a16:creationId xmlns:a16="http://schemas.microsoft.com/office/drawing/2014/main" id="{95AEC01D-0671-48D6-91B4-4DD5BAD55305}"/>
                </a:ext>
              </a:extLst>
            </p:cNvPr>
            <p:cNvCxnSpPr/>
            <p:nvPr/>
          </p:nvCxnSpPr>
          <p:spPr>
            <a:xfrm flipH="1">
              <a:off x="4390477" y="3034501"/>
              <a:ext cx="2263" cy="2876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4">
              <a:extLst>
                <a:ext uri="{FF2B5EF4-FFF2-40B4-BE49-F238E27FC236}">
                  <a16:creationId xmlns:a16="http://schemas.microsoft.com/office/drawing/2014/main" id="{38ACD1B6-3F6E-4873-8198-130715E8D204}"/>
                </a:ext>
              </a:extLst>
            </p:cNvPr>
            <p:cNvCxnSpPr>
              <a:stCxn id="23" idx="1"/>
              <a:endCxn id="23" idx="1"/>
            </p:cNvCxnSpPr>
            <p:nvPr/>
          </p:nvCxnSpPr>
          <p:spPr>
            <a:xfrm>
              <a:off x="4548676" y="4428180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5">
              <a:extLst>
                <a:ext uri="{FF2B5EF4-FFF2-40B4-BE49-F238E27FC236}">
                  <a16:creationId xmlns:a16="http://schemas.microsoft.com/office/drawing/2014/main" id="{63965D72-B973-4B96-8557-48CFA1B747CC}"/>
                </a:ext>
              </a:extLst>
            </p:cNvPr>
            <p:cNvCxnSpPr/>
            <p:nvPr/>
          </p:nvCxnSpPr>
          <p:spPr>
            <a:xfrm>
              <a:off x="4413077" y="5218817"/>
              <a:ext cx="165431" cy="2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6">
              <a:extLst>
                <a:ext uri="{FF2B5EF4-FFF2-40B4-BE49-F238E27FC236}">
                  <a16:creationId xmlns:a16="http://schemas.microsoft.com/office/drawing/2014/main" id="{D641101A-C935-457A-A267-D43D51B7844E}"/>
                </a:ext>
              </a:extLst>
            </p:cNvPr>
            <p:cNvSpPr txBox="1"/>
            <p:nvPr/>
          </p:nvSpPr>
          <p:spPr>
            <a:xfrm>
              <a:off x="4558419" y="4743449"/>
              <a:ext cx="1724582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Randomized hash (800-106)</a:t>
              </a:r>
            </a:p>
          </p:txBody>
        </p:sp>
        <p:sp>
          <p:nvSpPr>
            <p:cNvPr id="29" name="TextBox 27">
              <a:extLst>
                <a:ext uri="{FF2B5EF4-FFF2-40B4-BE49-F238E27FC236}">
                  <a16:creationId xmlns:a16="http://schemas.microsoft.com/office/drawing/2014/main" id="{9BA233B2-9427-46B3-A9FF-2DE74AC156B5}"/>
                </a:ext>
              </a:extLst>
            </p:cNvPr>
            <p:cNvSpPr txBox="1"/>
            <p:nvPr/>
          </p:nvSpPr>
          <p:spPr>
            <a:xfrm>
              <a:off x="6289319" y="2691653"/>
              <a:ext cx="1834658" cy="23149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Guidelines</a:t>
              </a:r>
            </a:p>
          </p:txBody>
        </p:sp>
        <p:cxnSp>
          <p:nvCxnSpPr>
            <p:cNvPr id="30" name="Straight Arrow Connector 28">
              <a:extLst>
                <a:ext uri="{FF2B5EF4-FFF2-40B4-BE49-F238E27FC236}">
                  <a16:creationId xmlns:a16="http://schemas.microsoft.com/office/drawing/2014/main" id="{579359BA-281A-4153-9E2C-951BB4274C2E}"/>
                </a:ext>
              </a:extLst>
            </p:cNvPr>
            <p:cNvCxnSpPr>
              <a:endCxn id="29" idx="0"/>
            </p:cNvCxnSpPr>
            <p:nvPr/>
          </p:nvCxnSpPr>
          <p:spPr>
            <a:xfrm>
              <a:off x="7206646" y="2461959"/>
              <a:ext cx="2" cy="2296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29">
              <a:extLst>
                <a:ext uri="{FF2B5EF4-FFF2-40B4-BE49-F238E27FC236}">
                  <a16:creationId xmlns:a16="http://schemas.microsoft.com/office/drawing/2014/main" id="{5A01509F-2065-46B0-9755-417E41372830}"/>
                </a:ext>
              </a:extLst>
            </p:cNvPr>
            <p:cNvCxnSpPr/>
            <p:nvPr/>
          </p:nvCxnSpPr>
          <p:spPr>
            <a:xfrm>
              <a:off x="6411926" y="3104527"/>
              <a:ext cx="0" cy="17658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0">
              <a:extLst>
                <a:ext uri="{FF2B5EF4-FFF2-40B4-BE49-F238E27FC236}">
                  <a16:creationId xmlns:a16="http://schemas.microsoft.com/office/drawing/2014/main" id="{34B524B3-E13E-40D6-9840-F8C75C982878}"/>
                </a:ext>
              </a:extLst>
            </p:cNvPr>
            <p:cNvSpPr txBox="1"/>
            <p:nvPr/>
          </p:nvSpPr>
          <p:spPr>
            <a:xfrm>
              <a:off x="6541987" y="3596632"/>
              <a:ext cx="1518711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Transition  (800-131A)</a:t>
              </a:r>
            </a:p>
          </p:txBody>
        </p:sp>
        <p:cxnSp>
          <p:nvCxnSpPr>
            <p:cNvPr id="33" name="Straight Connector 31">
              <a:extLst>
                <a:ext uri="{FF2B5EF4-FFF2-40B4-BE49-F238E27FC236}">
                  <a16:creationId xmlns:a16="http://schemas.microsoft.com/office/drawing/2014/main" id="{50A42061-DCE2-4258-A391-3588AE94D51F}"/>
                </a:ext>
              </a:extLst>
            </p:cNvPr>
            <p:cNvCxnSpPr/>
            <p:nvPr/>
          </p:nvCxnSpPr>
          <p:spPr>
            <a:xfrm>
              <a:off x="6415425" y="3736712"/>
              <a:ext cx="1265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2">
              <a:extLst>
                <a:ext uri="{FF2B5EF4-FFF2-40B4-BE49-F238E27FC236}">
                  <a16:creationId xmlns:a16="http://schemas.microsoft.com/office/drawing/2014/main" id="{2E72CB80-D2FE-49C0-ACC6-E53D81EE83E8}"/>
                </a:ext>
              </a:extLst>
            </p:cNvPr>
            <p:cNvSpPr txBox="1"/>
            <p:nvPr/>
          </p:nvSpPr>
          <p:spPr>
            <a:xfrm>
              <a:off x="6592390" y="4020084"/>
              <a:ext cx="1744537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generation (800-133)</a:t>
              </a:r>
            </a:p>
          </p:txBody>
        </p:sp>
        <p:sp>
          <p:nvSpPr>
            <p:cNvPr id="35" name="TextBox 33">
              <a:extLst>
                <a:ext uri="{FF2B5EF4-FFF2-40B4-BE49-F238E27FC236}">
                  <a16:creationId xmlns:a16="http://schemas.microsoft.com/office/drawing/2014/main" id="{BA87FCAF-A3B5-4E0E-A589-25C414761B13}"/>
                </a:ext>
              </a:extLst>
            </p:cNvPr>
            <p:cNvSpPr txBox="1"/>
            <p:nvPr/>
          </p:nvSpPr>
          <p:spPr>
            <a:xfrm>
              <a:off x="6553481" y="4503330"/>
              <a:ext cx="1744536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management (800-57)</a:t>
              </a:r>
            </a:p>
          </p:txBody>
        </p:sp>
        <p:cxnSp>
          <p:nvCxnSpPr>
            <p:cNvPr id="36" name="Straight Connector 34">
              <a:extLst>
                <a:ext uri="{FF2B5EF4-FFF2-40B4-BE49-F238E27FC236}">
                  <a16:creationId xmlns:a16="http://schemas.microsoft.com/office/drawing/2014/main" id="{AE6093BE-AA24-4BF6-AF80-F09123815ED0}"/>
                </a:ext>
              </a:extLst>
            </p:cNvPr>
            <p:cNvCxnSpPr/>
            <p:nvPr/>
          </p:nvCxnSpPr>
          <p:spPr>
            <a:xfrm>
              <a:off x="6427327" y="4635929"/>
              <a:ext cx="1265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2530F9-22FD-4651-A028-0D8C3C472695}"/>
                </a:ext>
              </a:extLst>
            </p:cNvPr>
            <p:cNvSpPr txBox="1"/>
            <p:nvPr/>
          </p:nvSpPr>
          <p:spPr>
            <a:xfrm>
              <a:off x="4558167" y="5502423"/>
              <a:ext cx="199531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SHA3 derived functions (parallel hashing, KMAC, etc. (800-185)</a:t>
              </a:r>
            </a:p>
          </p:txBody>
        </p:sp>
        <p:cxnSp>
          <p:nvCxnSpPr>
            <p:cNvPr id="38" name="Straight Connector 38">
              <a:extLst>
                <a:ext uri="{FF2B5EF4-FFF2-40B4-BE49-F238E27FC236}">
                  <a16:creationId xmlns:a16="http://schemas.microsoft.com/office/drawing/2014/main" id="{EA924E9D-2C7E-4213-A49B-2ABE11FBD9E3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2064340" y="3470323"/>
              <a:ext cx="144265" cy="54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9">
              <a:extLst>
                <a:ext uri="{FF2B5EF4-FFF2-40B4-BE49-F238E27FC236}">
                  <a16:creationId xmlns:a16="http://schemas.microsoft.com/office/drawing/2014/main" id="{BC132AB9-CBC8-4BCC-8C52-D75781BA4093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2064340" y="4051849"/>
              <a:ext cx="190455" cy="88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0">
              <a:extLst>
                <a:ext uri="{FF2B5EF4-FFF2-40B4-BE49-F238E27FC236}">
                  <a16:creationId xmlns:a16="http://schemas.microsoft.com/office/drawing/2014/main" id="{5EC88CB8-AEEB-4083-A0F4-C395D745761A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2553056" y="5273983"/>
              <a:ext cx="205259" cy="4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1">
              <a:extLst>
                <a:ext uri="{FF2B5EF4-FFF2-40B4-BE49-F238E27FC236}">
                  <a16:creationId xmlns:a16="http://schemas.microsoft.com/office/drawing/2014/main" id="{927C3EBF-9874-4CB2-8AB3-A90964687EA2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H="1">
              <a:off x="2568533" y="5556125"/>
              <a:ext cx="189782" cy="33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2">
              <a:extLst>
                <a:ext uri="{FF2B5EF4-FFF2-40B4-BE49-F238E27FC236}">
                  <a16:creationId xmlns:a16="http://schemas.microsoft.com/office/drawing/2014/main" id="{7761B5C2-D201-4CD9-92CB-801C19E74A0D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4382638" y="3449411"/>
              <a:ext cx="164870" cy="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3">
              <a:extLst>
                <a:ext uri="{FF2B5EF4-FFF2-40B4-BE49-F238E27FC236}">
                  <a16:creationId xmlns:a16="http://schemas.microsoft.com/office/drawing/2014/main" id="{7C33B2CB-2EF2-4747-B592-D6D9E545A224}"/>
                </a:ext>
              </a:extLst>
            </p:cNvPr>
            <p:cNvCxnSpPr>
              <a:stCxn id="22" idx="1"/>
            </p:cNvCxnSpPr>
            <p:nvPr/>
          </p:nvCxnSpPr>
          <p:spPr>
            <a:xfrm flipH="1" flipV="1">
              <a:off x="4380537" y="3845103"/>
              <a:ext cx="177630" cy="1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4">
              <a:extLst>
                <a:ext uri="{FF2B5EF4-FFF2-40B4-BE49-F238E27FC236}">
                  <a16:creationId xmlns:a16="http://schemas.microsoft.com/office/drawing/2014/main" id="{7876EE3E-806E-4FD7-8223-8736ACCF4627}"/>
                </a:ext>
              </a:extLst>
            </p:cNvPr>
            <p:cNvCxnSpPr>
              <a:stCxn id="23" idx="1"/>
            </p:cNvCxnSpPr>
            <p:nvPr/>
          </p:nvCxnSpPr>
          <p:spPr>
            <a:xfrm flipH="1" flipV="1">
              <a:off x="4410903" y="4426911"/>
              <a:ext cx="137773" cy="12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">
              <a:extLst>
                <a:ext uri="{FF2B5EF4-FFF2-40B4-BE49-F238E27FC236}">
                  <a16:creationId xmlns:a16="http://schemas.microsoft.com/office/drawing/2014/main" id="{AA985BD8-6AB8-4E42-A283-1BAFEAD43038}"/>
                </a:ext>
              </a:extLst>
            </p:cNvPr>
            <p:cNvCxnSpPr>
              <a:stCxn id="28" idx="1"/>
            </p:cNvCxnSpPr>
            <p:nvPr/>
          </p:nvCxnSpPr>
          <p:spPr>
            <a:xfrm flipH="1">
              <a:off x="4390477" y="4862166"/>
              <a:ext cx="167942" cy="82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6">
              <a:extLst>
                <a:ext uri="{FF2B5EF4-FFF2-40B4-BE49-F238E27FC236}">
                  <a16:creationId xmlns:a16="http://schemas.microsoft.com/office/drawing/2014/main" id="{743A795E-9045-4F96-A084-56AF03AACF29}"/>
                </a:ext>
              </a:extLst>
            </p:cNvPr>
            <p:cNvCxnSpPr>
              <a:stCxn id="37" idx="1"/>
            </p:cNvCxnSpPr>
            <p:nvPr/>
          </p:nvCxnSpPr>
          <p:spPr>
            <a:xfrm flipH="1">
              <a:off x="4380537" y="5710172"/>
              <a:ext cx="1776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7">
              <a:extLst>
                <a:ext uri="{FF2B5EF4-FFF2-40B4-BE49-F238E27FC236}">
                  <a16:creationId xmlns:a16="http://schemas.microsoft.com/office/drawing/2014/main" id="{7F1AC082-9F9E-45C7-8C49-D3A980A9192D}"/>
                </a:ext>
              </a:extLst>
            </p:cNvPr>
            <p:cNvCxnSpPr>
              <a:cxnSpLocks/>
              <a:stCxn id="34" idx="1"/>
              <a:endCxn id="34" idx="1"/>
            </p:cNvCxnSpPr>
            <p:nvPr/>
          </p:nvCxnSpPr>
          <p:spPr>
            <a:xfrm>
              <a:off x="6592390" y="416642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8">
              <a:extLst>
                <a:ext uri="{FF2B5EF4-FFF2-40B4-BE49-F238E27FC236}">
                  <a16:creationId xmlns:a16="http://schemas.microsoft.com/office/drawing/2014/main" id="{926DEF27-BC85-4DFA-966E-0855AD2FD2D1}"/>
                </a:ext>
              </a:extLst>
            </p:cNvPr>
            <p:cNvCxnSpPr>
              <a:cxnSpLocks/>
              <a:stCxn id="34" idx="1"/>
            </p:cNvCxnSpPr>
            <p:nvPr/>
          </p:nvCxnSpPr>
          <p:spPr>
            <a:xfrm flipH="1">
              <a:off x="6415425" y="4166428"/>
              <a:ext cx="176965" cy="7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9">
              <a:extLst>
                <a:ext uri="{FF2B5EF4-FFF2-40B4-BE49-F238E27FC236}">
                  <a16:creationId xmlns:a16="http://schemas.microsoft.com/office/drawing/2014/main" id="{C12BFEA1-EB62-41AF-AF56-41C343A03DED}"/>
                </a:ext>
              </a:extLst>
            </p:cNvPr>
            <p:cNvCxnSpPr/>
            <p:nvPr/>
          </p:nvCxnSpPr>
          <p:spPr>
            <a:xfrm flipV="1">
              <a:off x="6408428" y="3403900"/>
              <a:ext cx="183950" cy="4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50">
            <a:extLst>
              <a:ext uri="{FF2B5EF4-FFF2-40B4-BE49-F238E27FC236}">
                <a16:creationId xmlns:a16="http://schemas.microsoft.com/office/drawing/2014/main" id="{E05196F2-D721-4BEE-B169-31613CF2C2E3}"/>
              </a:ext>
            </a:extLst>
          </p:cNvPr>
          <p:cNvSpPr txBox="1"/>
          <p:nvPr/>
        </p:nvSpPr>
        <p:spPr>
          <a:xfrm>
            <a:off x="7888880" y="3050072"/>
            <a:ext cx="241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Hash usage/security (800-107</a:t>
            </a:r>
            <a:r>
              <a:rPr lang="en-US" sz="1050" dirty="0"/>
              <a:t>)</a:t>
            </a:r>
          </a:p>
        </p:txBody>
      </p:sp>
      <p:sp>
        <p:nvSpPr>
          <p:cNvPr id="51" name="Rectangle 51">
            <a:extLst>
              <a:ext uri="{FF2B5EF4-FFF2-40B4-BE49-F238E27FC236}">
                <a16:creationId xmlns:a16="http://schemas.microsoft.com/office/drawing/2014/main" id="{BB7D2050-3D9C-4EF6-9E1D-65195A4DED41}"/>
              </a:ext>
            </a:extLst>
          </p:cNvPr>
          <p:cNvSpPr/>
          <p:nvPr/>
        </p:nvSpPr>
        <p:spPr>
          <a:xfrm>
            <a:off x="1775520" y="2063172"/>
            <a:ext cx="2789484" cy="2536126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 w="76200">
                <a:solidFill>
                  <a:schemeClr val="tx1"/>
                </a:solidFill>
              </a:ln>
            </a:endParaRPr>
          </a:p>
        </p:txBody>
      </p:sp>
      <p:sp>
        <p:nvSpPr>
          <p:cNvPr id="54" name="Rectangle 54">
            <a:extLst>
              <a:ext uri="{FF2B5EF4-FFF2-40B4-BE49-F238E27FC236}">
                <a16:creationId xmlns:a16="http://schemas.microsoft.com/office/drawing/2014/main" id="{87F4B80B-8EFF-4B35-BAB3-F0C51903B2BF}"/>
              </a:ext>
            </a:extLst>
          </p:cNvPr>
          <p:cNvSpPr/>
          <p:nvPr/>
        </p:nvSpPr>
        <p:spPr>
          <a:xfrm>
            <a:off x="4444753" y="1901452"/>
            <a:ext cx="3398652" cy="469590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90414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impact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grpSp>
        <p:nvGrpSpPr>
          <p:cNvPr id="57" name="Group 3">
            <a:extLst>
              <a:ext uri="{FF2B5EF4-FFF2-40B4-BE49-F238E27FC236}">
                <a16:creationId xmlns:a16="http://schemas.microsoft.com/office/drawing/2014/main" id="{2C1CA6BF-8918-49E4-A6B0-47A319B334E6}"/>
              </a:ext>
            </a:extLst>
          </p:cNvPr>
          <p:cNvGrpSpPr/>
          <p:nvPr/>
        </p:nvGrpSpPr>
        <p:grpSpPr>
          <a:xfrm>
            <a:off x="1950885" y="1123479"/>
            <a:ext cx="8232689" cy="5300592"/>
            <a:chOff x="1985852" y="1828800"/>
            <a:chExt cx="6351075" cy="4089121"/>
          </a:xfrm>
        </p:grpSpPr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156CB231-A42C-43C1-9DC9-F93A45CF2FFF}"/>
                </a:ext>
              </a:extLst>
            </p:cNvPr>
            <p:cNvSpPr txBox="1"/>
            <p:nvPr/>
          </p:nvSpPr>
          <p:spPr>
            <a:xfrm>
              <a:off x="3953395" y="1828800"/>
              <a:ext cx="2278066" cy="231497"/>
            </a:xfrm>
            <a:prstGeom prst="rect">
              <a:avLst/>
            </a:prstGeom>
            <a:solidFill>
              <a:srgbClr val="FFC000"/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NIST Crypto standards</a:t>
              </a:r>
            </a:p>
          </p:txBody>
        </p:sp>
        <p:sp>
          <p:nvSpPr>
            <p:cNvPr id="59" name="TextBox 5">
              <a:extLst>
                <a:ext uri="{FF2B5EF4-FFF2-40B4-BE49-F238E27FC236}">
                  <a16:creationId xmlns:a16="http://schemas.microsoft.com/office/drawing/2014/main" id="{3D80A588-7AEF-45B3-9028-F56597F01F7A}"/>
                </a:ext>
              </a:extLst>
            </p:cNvPr>
            <p:cNvSpPr txBox="1"/>
            <p:nvPr/>
          </p:nvSpPr>
          <p:spPr>
            <a:xfrm>
              <a:off x="1985852" y="2739406"/>
              <a:ext cx="1708550" cy="231497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Public key based</a:t>
              </a:r>
            </a:p>
          </p:txBody>
        </p:sp>
        <p:cxnSp>
          <p:nvCxnSpPr>
            <p:cNvPr id="60" name="Straight Connector 6">
              <a:extLst>
                <a:ext uri="{FF2B5EF4-FFF2-40B4-BE49-F238E27FC236}">
                  <a16:creationId xmlns:a16="http://schemas.microsoft.com/office/drawing/2014/main" id="{470E0CF1-CEE4-4F8E-8C60-4216F7D17C75}"/>
                </a:ext>
              </a:extLst>
            </p:cNvPr>
            <p:cNvCxnSpPr/>
            <p:nvPr/>
          </p:nvCxnSpPr>
          <p:spPr>
            <a:xfrm>
              <a:off x="2998327" y="2461959"/>
              <a:ext cx="420831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7">
              <a:extLst>
                <a:ext uri="{FF2B5EF4-FFF2-40B4-BE49-F238E27FC236}">
                  <a16:creationId xmlns:a16="http://schemas.microsoft.com/office/drawing/2014/main" id="{CAA2C1B2-1118-42DE-AA39-A29794FD2066}"/>
                </a:ext>
              </a:extLst>
            </p:cNvPr>
            <p:cNvCxnSpPr/>
            <p:nvPr/>
          </p:nvCxnSpPr>
          <p:spPr>
            <a:xfrm>
              <a:off x="2998326" y="2461958"/>
              <a:ext cx="0" cy="2774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8">
              <a:extLst>
                <a:ext uri="{FF2B5EF4-FFF2-40B4-BE49-F238E27FC236}">
                  <a16:creationId xmlns:a16="http://schemas.microsoft.com/office/drawing/2014/main" id="{7AE6F022-3CBF-49BB-8BDA-ED21142B71E6}"/>
                </a:ext>
              </a:extLst>
            </p:cNvPr>
            <p:cNvCxnSpPr>
              <a:endCxn id="72" idx="0"/>
            </p:cNvCxnSpPr>
            <p:nvPr/>
          </p:nvCxnSpPr>
          <p:spPr>
            <a:xfrm>
              <a:off x="5215374" y="2468618"/>
              <a:ext cx="1" cy="2296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9">
              <a:extLst>
                <a:ext uri="{FF2B5EF4-FFF2-40B4-BE49-F238E27FC236}">
                  <a16:creationId xmlns:a16="http://schemas.microsoft.com/office/drawing/2014/main" id="{F6689BFA-2FF2-445F-9416-2A3E722DAC8C}"/>
                </a:ext>
              </a:extLst>
            </p:cNvPr>
            <p:cNvCxnSpPr>
              <a:stCxn id="58" idx="2"/>
            </p:cNvCxnSpPr>
            <p:nvPr/>
          </p:nvCxnSpPr>
          <p:spPr>
            <a:xfrm>
              <a:off x="5092428" y="2060297"/>
              <a:ext cx="0" cy="392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10">
              <a:extLst>
                <a:ext uri="{FF2B5EF4-FFF2-40B4-BE49-F238E27FC236}">
                  <a16:creationId xmlns:a16="http://schemas.microsoft.com/office/drawing/2014/main" id="{FA208371-0FCD-4DFD-AD3C-DB14D76E54F6}"/>
                </a:ext>
              </a:extLst>
            </p:cNvPr>
            <p:cNvSpPr txBox="1"/>
            <p:nvPr/>
          </p:nvSpPr>
          <p:spPr>
            <a:xfrm>
              <a:off x="2208605" y="3316276"/>
              <a:ext cx="1455431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Signature (FIPS 186)</a:t>
              </a:r>
            </a:p>
          </p:txBody>
        </p:sp>
        <p:sp>
          <p:nvSpPr>
            <p:cNvPr id="65" name="TextBox 11">
              <a:extLst>
                <a:ext uri="{FF2B5EF4-FFF2-40B4-BE49-F238E27FC236}">
                  <a16:creationId xmlns:a16="http://schemas.microsoft.com/office/drawing/2014/main" id="{04221602-6762-4B07-8979-67BD5B9326E3}"/>
                </a:ext>
              </a:extLst>
            </p:cNvPr>
            <p:cNvSpPr txBox="1"/>
            <p:nvPr/>
          </p:nvSpPr>
          <p:spPr>
            <a:xfrm>
              <a:off x="2254795" y="3808619"/>
              <a:ext cx="1455431" cy="403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establishment (800-56A/B/C)</a:t>
              </a:r>
            </a:p>
          </p:txBody>
        </p:sp>
        <p:cxnSp>
          <p:nvCxnSpPr>
            <p:cNvPr id="66" name="Straight Connector 12">
              <a:extLst>
                <a:ext uri="{FF2B5EF4-FFF2-40B4-BE49-F238E27FC236}">
                  <a16:creationId xmlns:a16="http://schemas.microsoft.com/office/drawing/2014/main" id="{22820293-4A8F-4AE8-A2ED-109CC5D9CF77}"/>
                </a:ext>
              </a:extLst>
            </p:cNvPr>
            <p:cNvCxnSpPr/>
            <p:nvPr/>
          </p:nvCxnSpPr>
          <p:spPr>
            <a:xfrm>
              <a:off x="2064340" y="3103516"/>
              <a:ext cx="0" cy="16372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13">
              <a:extLst>
                <a:ext uri="{FF2B5EF4-FFF2-40B4-BE49-F238E27FC236}">
                  <a16:creationId xmlns:a16="http://schemas.microsoft.com/office/drawing/2014/main" id="{860AFDA0-4140-4C85-BCF9-DB90E498E0D6}"/>
                </a:ext>
              </a:extLst>
            </p:cNvPr>
            <p:cNvSpPr txBox="1"/>
            <p:nvPr/>
          </p:nvSpPr>
          <p:spPr>
            <a:xfrm>
              <a:off x="2428810" y="4637096"/>
              <a:ext cx="1756009" cy="231497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Tools</a:t>
              </a:r>
            </a:p>
          </p:txBody>
        </p:sp>
        <p:cxnSp>
          <p:nvCxnSpPr>
            <p:cNvPr id="68" name="Straight Connector 14">
              <a:extLst>
                <a:ext uri="{FF2B5EF4-FFF2-40B4-BE49-F238E27FC236}">
                  <a16:creationId xmlns:a16="http://schemas.microsoft.com/office/drawing/2014/main" id="{72161AC5-D15C-4A3C-9EFD-63BEAF90F001}"/>
                </a:ext>
              </a:extLst>
            </p:cNvPr>
            <p:cNvCxnSpPr/>
            <p:nvPr/>
          </p:nvCxnSpPr>
          <p:spPr>
            <a:xfrm>
              <a:off x="3947521" y="2461959"/>
              <a:ext cx="0" cy="2175138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5">
              <a:extLst>
                <a:ext uri="{FF2B5EF4-FFF2-40B4-BE49-F238E27FC236}">
                  <a16:creationId xmlns:a16="http://schemas.microsoft.com/office/drawing/2014/main" id="{B5E61FE7-AC79-4396-8D8C-7BC4DF017844}"/>
                </a:ext>
              </a:extLst>
            </p:cNvPr>
            <p:cNvCxnSpPr/>
            <p:nvPr/>
          </p:nvCxnSpPr>
          <p:spPr>
            <a:xfrm>
              <a:off x="2555317" y="5033772"/>
              <a:ext cx="0" cy="8180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2725A87A-214F-4B18-A7B6-0B859A98DF1D}"/>
                </a:ext>
              </a:extLst>
            </p:cNvPr>
            <p:cNvSpPr txBox="1"/>
            <p:nvPr/>
          </p:nvSpPr>
          <p:spPr>
            <a:xfrm>
              <a:off x="2758315" y="5121920"/>
              <a:ext cx="142650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RNG (800-90A/B/C)</a:t>
              </a:r>
            </a:p>
          </p:txBody>
        </p:sp>
        <p:sp>
          <p:nvSpPr>
            <p:cNvPr id="71" name="TextBox 17">
              <a:extLst>
                <a:ext uri="{FF2B5EF4-FFF2-40B4-BE49-F238E27FC236}">
                  <a16:creationId xmlns:a16="http://schemas.microsoft.com/office/drawing/2014/main" id="{F33395C3-7426-49E0-BB48-FB0F1DBB783C}"/>
                </a:ext>
              </a:extLst>
            </p:cNvPr>
            <p:cNvSpPr txBox="1"/>
            <p:nvPr/>
          </p:nvSpPr>
          <p:spPr>
            <a:xfrm>
              <a:off x="2758315" y="5402078"/>
              <a:ext cx="163216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KDF (800-108, 800-135)</a:t>
              </a: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85FCB1DD-8DC8-4573-826F-409E8870B3F4}"/>
                </a:ext>
              </a:extLst>
            </p:cNvPr>
            <p:cNvSpPr txBox="1"/>
            <p:nvPr/>
          </p:nvSpPr>
          <p:spPr>
            <a:xfrm>
              <a:off x="4234541" y="2698312"/>
              <a:ext cx="1961668" cy="231497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Symmetric key based</a:t>
              </a:r>
            </a:p>
          </p:txBody>
        </p:sp>
        <p:sp>
          <p:nvSpPr>
            <p:cNvPr id="73" name="TextBox 19">
              <a:extLst>
                <a:ext uri="{FF2B5EF4-FFF2-40B4-BE49-F238E27FC236}">
                  <a16:creationId xmlns:a16="http://schemas.microsoft.com/office/drawing/2014/main" id="{EF0A6B70-79AF-4344-9114-858AB6CDFB2B}"/>
                </a:ext>
              </a:extLst>
            </p:cNvPr>
            <p:cNvSpPr txBox="1"/>
            <p:nvPr/>
          </p:nvSpPr>
          <p:spPr>
            <a:xfrm>
              <a:off x="4547508" y="3241662"/>
              <a:ext cx="143716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AES  (FIPS 197 ) </a:t>
              </a:r>
            </a:p>
            <a:p>
              <a:r>
                <a:rPr lang="en-US" sz="1400" dirty="0"/>
                <a:t>TDEA (800-67)</a:t>
              </a: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4B71B38C-3B1B-402E-AF46-E92FC5FC2E07}"/>
                </a:ext>
              </a:extLst>
            </p:cNvPr>
            <p:cNvSpPr txBox="1"/>
            <p:nvPr/>
          </p:nvSpPr>
          <p:spPr>
            <a:xfrm>
              <a:off x="4558167" y="3638656"/>
              <a:ext cx="142650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Modes  of operations (800 38A-38G)</a:t>
              </a:r>
            </a:p>
          </p:txBody>
        </p:sp>
        <p:sp>
          <p:nvSpPr>
            <p:cNvPr id="75" name="TextBox 21">
              <a:extLst>
                <a:ext uri="{FF2B5EF4-FFF2-40B4-BE49-F238E27FC236}">
                  <a16:creationId xmlns:a16="http://schemas.microsoft.com/office/drawing/2014/main" id="{0F2D3EFC-D23C-47C3-BD10-ADB4817DEEC5}"/>
                </a:ext>
              </a:extLst>
            </p:cNvPr>
            <p:cNvSpPr txBox="1"/>
            <p:nvPr/>
          </p:nvSpPr>
          <p:spPr>
            <a:xfrm>
              <a:off x="4548676" y="4220431"/>
              <a:ext cx="1682787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SHA-1/2 (FIPS 180) and SHA-3 (FIPS 202)</a:t>
              </a:r>
            </a:p>
          </p:txBody>
        </p:sp>
        <p:sp>
          <p:nvSpPr>
            <p:cNvPr id="76" name="TextBox 22">
              <a:extLst>
                <a:ext uri="{FF2B5EF4-FFF2-40B4-BE49-F238E27FC236}">
                  <a16:creationId xmlns:a16="http://schemas.microsoft.com/office/drawing/2014/main" id="{160075DD-1AF4-4EE6-91D5-99FBCAAD75F5}"/>
                </a:ext>
              </a:extLst>
            </p:cNvPr>
            <p:cNvSpPr txBox="1"/>
            <p:nvPr/>
          </p:nvSpPr>
          <p:spPr>
            <a:xfrm>
              <a:off x="4558169" y="5080825"/>
              <a:ext cx="1426504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HMAC (FIPS 198</a:t>
              </a:r>
              <a:r>
                <a:rPr lang="en-US" sz="1050" dirty="0"/>
                <a:t>)</a:t>
              </a:r>
            </a:p>
          </p:txBody>
        </p:sp>
        <p:cxnSp>
          <p:nvCxnSpPr>
            <p:cNvPr id="77" name="Straight Connector 23">
              <a:extLst>
                <a:ext uri="{FF2B5EF4-FFF2-40B4-BE49-F238E27FC236}">
                  <a16:creationId xmlns:a16="http://schemas.microsoft.com/office/drawing/2014/main" id="{95AEC01D-0671-48D6-91B4-4DD5BAD55305}"/>
                </a:ext>
              </a:extLst>
            </p:cNvPr>
            <p:cNvCxnSpPr/>
            <p:nvPr/>
          </p:nvCxnSpPr>
          <p:spPr>
            <a:xfrm flipH="1">
              <a:off x="4390477" y="3034501"/>
              <a:ext cx="2263" cy="2876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24">
              <a:extLst>
                <a:ext uri="{FF2B5EF4-FFF2-40B4-BE49-F238E27FC236}">
                  <a16:creationId xmlns:a16="http://schemas.microsoft.com/office/drawing/2014/main" id="{38ACD1B6-3F6E-4873-8198-130715E8D204}"/>
                </a:ext>
              </a:extLst>
            </p:cNvPr>
            <p:cNvCxnSpPr>
              <a:stCxn id="75" idx="1"/>
              <a:endCxn id="75" idx="1"/>
            </p:cNvCxnSpPr>
            <p:nvPr/>
          </p:nvCxnSpPr>
          <p:spPr>
            <a:xfrm>
              <a:off x="4548676" y="4428180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25">
              <a:extLst>
                <a:ext uri="{FF2B5EF4-FFF2-40B4-BE49-F238E27FC236}">
                  <a16:creationId xmlns:a16="http://schemas.microsoft.com/office/drawing/2014/main" id="{63965D72-B973-4B96-8557-48CFA1B747CC}"/>
                </a:ext>
              </a:extLst>
            </p:cNvPr>
            <p:cNvCxnSpPr/>
            <p:nvPr/>
          </p:nvCxnSpPr>
          <p:spPr>
            <a:xfrm>
              <a:off x="4413077" y="5218817"/>
              <a:ext cx="165431" cy="2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26">
              <a:extLst>
                <a:ext uri="{FF2B5EF4-FFF2-40B4-BE49-F238E27FC236}">
                  <a16:creationId xmlns:a16="http://schemas.microsoft.com/office/drawing/2014/main" id="{D641101A-C935-457A-A267-D43D51B7844E}"/>
                </a:ext>
              </a:extLst>
            </p:cNvPr>
            <p:cNvSpPr txBox="1"/>
            <p:nvPr/>
          </p:nvSpPr>
          <p:spPr>
            <a:xfrm>
              <a:off x="4558419" y="4743449"/>
              <a:ext cx="1724582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Randomized hash (800-106)</a:t>
              </a:r>
            </a:p>
          </p:txBody>
        </p:sp>
        <p:sp>
          <p:nvSpPr>
            <p:cNvPr id="81" name="TextBox 27">
              <a:extLst>
                <a:ext uri="{FF2B5EF4-FFF2-40B4-BE49-F238E27FC236}">
                  <a16:creationId xmlns:a16="http://schemas.microsoft.com/office/drawing/2014/main" id="{9BA233B2-9427-46B3-A9FF-2DE74AC156B5}"/>
                </a:ext>
              </a:extLst>
            </p:cNvPr>
            <p:cNvSpPr txBox="1"/>
            <p:nvPr/>
          </p:nvSpPr>
          <p:spPr>
            <a:xfrm>
              <a:off x="6289319" y="2691653"/>
              <a:ext cx="1834658" cy="231497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Guidelines</a:t>
              </a:r>
            </a:p>
          </p:txBody>
        </p:sp>
        <p:cxnSp>
          <p:nvCxnSpPr>
            <p:cNvPr id="82" name="Straight Arrow Connector 28">
              <a:extLst>
                <a:ext uri="{FF2B5EF4-FFF2-40B4-BE49-F238E27FC236}">
                  <a16:creationId xmlns:a16="http://schemas.microsoft.com/office/drawing/2014/main" id="{579359BA-281A-4153-9E2C-951BB4274C2E}"/>
                </a:ext>
              </a:extLst>
            </p:cNvPr>
            <p:cNvCxnSpPr>
              <a:endCxn id="81" idx="0"/>
            </p:cNvCxnSpPr>
            <p:nvPr/>
          </p:nvCxnSpPr>
          <p:spPr>
            <a:xfrm>
              <a:off x="7206646" y="2461959"/>
              <a:ext cx="2" cy="22969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29">
              <a:extLst>
                <a:ext uri="{FF2B5EF4-FFF2-40B4-BE49-F238E27FC236}">
                  <a16:creationId xmlns:a16="http://schemas.microsoft.com/office/drawing/2014/main" id="{5A01509F-2065-46B0-9755-417E41372830}"/>
                </a:ext>
              </a:extLst>
            </p:cNvPr>
            <p:cNvCxnSpPr/>
            <p:nvPr/>
          </p:nvCxnSpPr>
          <p:spPr>
            <a:xfrm>
              <a:off x="6411926" y="3104527"/>
              <a:ext cx="0" cy="17658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30">
              <a:extLst>
                <a:ext uri="{FF2B5EF4-FFF2-40B4-BE49-F238E27FC236}">
                  <a16:creationId xmlns:a16="http://schemas.microsoft.com/office/drawing/2014/main" id="{34B524B3-E13E-40D6-9840-F8C75C982878}"/>
                </a:ext>
              </a:extLst>
            </p:cNvPr>
            <p:cNvSpPr txBox="1"/>
            <p:nvPr/>
          </p:nvSpPr>
          <p:spPr>
            <a:xfrm>
              <a:off x="6541987" y="3596632"/>
              <a:ext cx="1518711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Transition  (800-131A)</a:t>
              </a:r>
            </a:p>
          </p:txBody>
        </p:sp>
        <p:cxnSp>
          <p:nvCxnSpPr>
            <p:cNvPr id="85" name="Straight Connector 31">
              <a:extLst>
                <a:ext uri="{FF2B5EF4-FFF2-40B4-BE49-F238E27FC236}">
                  <a16:creationId xmlns:a16="http://schemas.microsoft.com/office/drawing/2014/main" id="{50A42061-DCE2-4258-A391-3588AE94D51F}"/>
                </a:ext>
              </a:extLst>
            </p:cNvPr>
            <p:cNvCxnSpPr/>
            <p:nvPr/>
          </p:nvCxnSpPr>
          <p:spPr>
            <a:xfrm>
              <a:off x="6415425" y="3736712"/>
              <a:ext cx="1265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32">
              <a:extLst>
                <a:ext uri="{FF2B5EF4-FFF2-40B4-BE49-F238E27FC236}">
                  <a16:creationId xmlns:a16="http://schemas.microsoft.com/office/drawing/2014/main" id="{2E72CB80-D2FE-49C0-ACC6-E53D81EE83E8}"/>
                </a:ext>
              </a:extLst>
            </p:cNvPr>
            <p:cNvSpPr txBox="1"/>
            <p:nvPr/>
          </p:nvSpPr>
          <p:spPr>
            <a:xfrm>
              <a:off x="6592390" y="4020084"/>
              <a:ext cx="1744537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generation (800-133)</a:t>
              </a:r>
            </a:p>
          </p:txBody>
        </p:sp>
        <p:sp>
          <p:nvSpPr>
            <p:cNvPr id="87" name="TextBox 33">
              <a:extLst>
                <a:ext uri="{FF2B5EF4-FFF2-40B4-BE49-F238E27FC236}">
                  <a16:creationId xmlns:a16="http://schemas.microsoft.com/office/drawing/2014/main" id="{BA87FCAF-A3B5-4E0E-A589-25C414761B13}"/>
                </a:ext>
              </a:extLst>
            </p:cNvPr>
            <p:cNvSpPr txBox="1"/>
            <p:nvPr/>
          </p:nvSpPr>
          <p:spPr>
            <a:xfrm>
              <a:off x="6553481" y="4503330"/>
              <a:ext cx="1744536" cy="237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Key management (800-57)</a:t>
              </a:r>
            </a:p>
          </p:txBody>
        </p:sp>
        <p:cxnSp>
          <p:nvCxnSpPr>
            <p:cNvPr id="88" name="Straight Connector 34">
              <a:extLst>
                <a:ext uri="{FF2B5EF4-FFF2-40B4-BE49-F238E27FC236}">
                  <a16:creationId xmlns:a16="http://schemas.microsoft.com/office/drawing/2014/main" id="{AE6093BE-AA24-4BF6-AF80-F09123815ED0}"/>
                </a:ext>
              </a:extLst>
            </p:cNvPr>
            <p:cNvCxnSpPr/>
            <p:nvPr/>
          </p:nvCxnSpPr>
          <p:spPr>
            <a:xfrm>
              <a:off x="6427327" y="4635929"/>
              <a:ext cx="12655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36">
              <a:extLst>
                <a:ext uri="{FF2B5EF4-FFF2-40B4-BE49-F238E27FC236}">
                  <a16:creationId xmlns:a16="http://schemas.microsoft.com/office/drawing/2014/main" id="{D92530F9-22FD-4651-A028-0D8C3C472695}"/>
                </a:ext>
              </a:extLst>
            </p:cNvPr>
            <p:cNvSpPr txBox="1"/>
            <p:nvPr/>
          </p:nvSpPr>
          <p:spPr>
            <a:xfrm>
              <a:off x="4558167" y="5502423"/>
              <a:ext cx="1995314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SHA3 derived functions (parallel hashing, KMAC, etc. (800-185)</a:t>
              </a:r>
            </a:p>
          </p:txBody>
        </p:sp>
        <p:cxnSp>
          <p:nvCxnSpPr>
            <p:cNvPr id="90" name="Straight Connector 38">
              <a:extLst>
                <a:ext uri="{FF2B5EF4-FFF2-40B4-BE49-F238E27FC236}">
                  <a16:creationId xmlns:a16="http://schemas.microsoft.com/office/drawing/2014/main" id="{EA924E9D-2C7E-4213-A49B-2ABE11FBD9E3}"/>
                </a:ext>
              </a:extLst>
            </p:cNvPr>
            <p:cNvCxnSpPr>
              <a:cxnSpLocks/>
              <a:stCxn id="64" idx="1"/>
            </p:cNvCxnSpPr>
            <p:nvPr/>
          </p:nvCxnSpPr>
          <p:spPr>
            <a:xfrm flipH="1" flipV="1">
              <a:off x="2064340" y="3470323"/>
              <a:ext cx="144265" cy="54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39">
              <a:extLst>
                <a:ext uri="{FF2B5EF4-FFF2-40B4-BE49-F238E27FC236}">
                  <a16:creationId xmlns:a16="http://schemas.microsoft.com/office/drawing/2014/main" id="{BC132AB9-CBC8-4BCC-8C52-D75781BA4093}"/>
                </a:ext>
              </a:extLst>
            </p:cNvPr>
            <p:cNvCxnSpPr>
              <a:cxnSpLocks/>
              <a:stCxn id="65" idx="1"/>
            </p:cNvCxnSpPr>
            <p:nvPr/>
          </p:nvCxnSpPr>
          <p:spPr>
            <a:xfrm flipH="1">
              <a:off x="2064340" y="4051849"/>
              <a:ext cx="190455" cy="88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0">
              <a:extLst>
                <a:ext uri="{FF2B5EF4-FFF2-40B4-BE49-F238E27FC236}">
                  <a16:creationId xmlns:a16="http://schemas.microsoft.com/office/drawing/2014/main" id="{5EC88CB8-AEEB-4083-A0F4-C395D745761A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flipH="1">
              <a:off x="2553056" y="5273983"/>
              <a:ext cx="205259" cy="46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1">
              <a:extLst>
                <a:ext uri="{FF2B5EF4-FFF2-40B4-BE49-F238E27FC236}">
                  <a16:creationId xmlns:a16="http://schemas.microsoft.com/office/drawing/2014/main" id="{927C3EBF-9874-4CB2-8AB3-A90964687EA2}"/>
                </a:ext>
              </a:extLst>
            </p:cNvPr>
            <p:cNvCxnSpPr>
              <a:cxnSpLocks/>
              <a:stCxn id="71" idx="1"/>
            </p:cNvCxnSpPr>
            <p:nvPr/>
          </p:nvCxnSpPr>
          <p:spPr>
            <a:xfrm flipH="1">
              <a:off x="2568533" y="5556125"/>
              <a:ext cx="189782" cy="334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2">
              <a:extLst>
                <a:ext uri="{FF2B5EF4-FFF2-40B4-BE49-F238E27FC236}">
                  <a16:creationId xmlns:a16="http://schemas.microsoft.com/office/drawing/2014/main" id="{7761B5C2-D201-4CD9-92CB-801C19E74A0D}"/>
                </a:ext>
              </a:extLst>
            </p:cNvPr>
            <p:cNvCxnSpPr>
              <a:stCxn id="73" idx="1"/>
            </p:cNvCxnSpPr>
            <p:nvPr/>
          </p:nvCxnSpPr>
          <p:spPr>
            <a:xfrm flipH="1">
              <a:off x="4382638" y="3449411"/>
              <a:ext cx="164870" cy="3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3">
              <a:extLst>
                <a:ext uri="{FF2B5EF4-FFF2-40B4-BE49-F238E27FC236}">
                  <a16:creationId xmlns:a16="http://schemas.microsoft.com/office/drawing/2014/main" id="{7C33B2CB-2EF2-4747-B592-D6D9E545A224}"/>
                </a:ext>
              </a:extLst>
            </p:cNvPr>
            <p:cNvCxnSpPr>
              <a:stCxn id="74" idx="1"/>
            </p:cNvCxnSpPr>
            <p:nvPr/>
          </p:nvCxnSpPr>
          <p:spPr>
            <a:xfrm flipH="1" flipV="1">
              <a:off x="4380537" y="3845103"/>
              <a:ext cx="177630" cy="13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4">
              <a:extLst>
                <a:ext uri="{FF2B5EF4-FFF2-40B4-BE49-F238E27FC236}">
                  <a16:creationId xmlns:a16="http://schemas.microsoft.com/office/drawing/2014/main" id="{7876EE3E-806E-4FD7-8223-8736ACCF4627}"/>
                </a:ext>
              </a:extLst>
            </p:cNvPr>
            <p:cNvCxnSpPr>
              <a:stCxn id="75" idx="1"/>
            </p:cNvCxnSpPr>
            <p:nvPr/>
          </p:nvCxnSpPr>
          <p:spPr>
            <a:xfrm flipH="1" flipV="1">
              <a:off x="4410903" y="4426911"/>
              <a:ext cx="137773" cy="12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">
              <a:extLst>
                <a:ext uri="{FF2B5EF4-FFF2-40B4-BE49-F238E27FC236}">
                  <a16:creationId xmlns:a16="http://schemas.microsoft.com/office/drawing/2014/main" id="{AA985BD8-6AB8-4E42-A283-1BAFEAD43038}"/>
                </a:ext>
              </a:extLst>
            </p:cNvPr>
            <p:cNvCxnSpPr>
              <a:stCxn id="80" idx="1"/>
            </p:cNvCxnSpPr>
            <p:nvPr/>
          </p:nvCxnSpPr>
          <p:spPr>
            <a:xfrm flipH="1">
              <a:off x="4390477" y="4862166"/>
              <a:ext cx="167942" cy="82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6">
              <a:extLst>
                <a:ext uri="{FF2B5EF4-FFF2-40B4-BE49-F238E27FC236}">
                  <a16:creationId xmlns:a16="http://schemas.microsoft.com/office/drawing/2014/main" id="{743A795E-9045-4F96-A084-56AF03AACF29}"/>
                </a:ext>
              </a:extLst>
            </p:cNvPr>
            <p:cNvCxnSpPr>
              <a:stCxn id="89" idx="1"/>
            </p:cNvCxnSpPr>
            <p:nvPr/>
          </p:nvCxnSpPr>
          <p:spPr>
            <a:xfrm flipH="1">
              <a:off x="4380537" y="5710172"/>
              <a:ext cx="17763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7">
              <a:extLst>
                <a:ext uri="{FF2B5EF4-FFF2-40B4-BE49-F238E27FC236}">
                  <a16:creationId xmlns:a16="http://schemas.microsoft.com/office/drawing/2014/main" id="{7F1AC082-9F9E-45C7-8C49-D3A980A9192D}"/>
                </a:ext>
              </a:extLst>
            </p:cNvPr>
            <p:cNvCxnSpPr>
              <a:cxnSpLocks/>
              <a:stCxn id="86" idx="1"/>
              <a:endCxn id="86" idx="1"/>
            </p:cNvCxnSpPr>
            <p:nvPr/>
          </p:nvCxnSpPr>
          <p:spPr>
            <a:xfrm>
              <a:off x="6592390" y="4166428"/>
              <a:ext cx="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8">
              <a:extLst>
                <a:ext uri="{FF2B5EF4-FFF2-40B4-BE49-F238E27FC236}">
                  <a16:creationId xmlns:a16="http://schemas.microsoft.com/office/drawing/2014/main" id="{926DEF27-BC85-4DFA-966E-0855AD2FD2D1}"/>
                </a:ext>
              </a:extLst>
            </p:cNvPr>
            <p:cNvCxnSpPr>
              <a:cxnSpLocks/>
              <a:stCxn id="86" idx="1"/>
            </p:cNvCxnSpPr>
            <p:nvPr/>
          </p:nvCxnSpPr>
          <p:spPr>
            <a:xfrm flipH="1">
              <a:off x="6415425" y="4166428"/>
              <a:ext cx="176965" cy="7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9">
              <a:extLst>
                <a:ext uri="{FF2B5EF4-FFF2-40B4-BE49-F238E27FC236}">
                  <a16:creationId xmlns:a16="http://schemas.microsoft.com/office/drawing/2014/main" id="{C12BFEA1-EB62-41AF-AF56-41C343A03DED}"/>
                </a:ext>
              </a:extLst>
            </p:cNvPr>
            <p:cNvCxnSpPr/>
            <p:nvPr/>
          </p:nvCxnSpPr>
          <p:spPr>
            <a:xfrm flipV="1">
              <a:off x="6408428" y="3403900"/>
              <a:ext cx="183950" cy="46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50">
            <a:extLst>
              <a:ext uri="{FF2B5EF4-FFF2-40B4-BE49-F238E27FC236}">
                <a16:creationId xmlns:a16="http://schemas.microsoft.com/office/drawing/2014/main" id="{E05196F2-D721-4BEE-B169-31613CF2C2E3}"/>
              </a:ext>
            </a:extLst>
          </p:cNvPr>
          <p:cNvSpPr txBox="1"/>
          <p:nvPr/>
        </p:nvSpPr>
        <p:spPr>
          <a:xfrm>
            <a:off x="7888880" y="3050072"/>
            <a:ext cx="2416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Hash usage/security (800-107</a:t>
            </a:r>
            <a:r>
              <a:rPr lang="en-US" sz="1050" dirty="0"/>
              <a:t>)</a:t>
            </a:r>
          </a:p>
        </p:txBody>
      </p:sp>
      <p:sp>
        <p:nvSpPr>
          <p:cNvPr id="103" name="Rectangle 51">
            <a:extLst>
              <a:ext uri="{FF2B5EF4-FFF2-40B4-BE49-F238E27FC236}">
                <a16:creationId xmlns:a16="http://schemas.microsoft.com/office/drawing/2014/main" id="{BB7D2050-3D9C-4EF6-9E1D-65195A4DED41}"/>
              </a:ext>
            </a:extLst>
          </p:cNvPr>
          <p:cNvSpPr/>
          <p:nvPr/>
        </p:nvSpPr>
        <p:spPr>
          <a:xfrm>
            <a:off x="1775520" y="2063172"/>
            <a:ext cx="2789484" cy="2536126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 w="76200">
                <a:solidFill>
                  <a:schemeClr val="tx1"/>
                </a:solidFill>
              </a:ln>
            </a:endParaRPr>
          </a:p>
        </p:txBody>
      </p:sp>
      <p:cxnSp>
        <p:nvCxnSpPr>
          <p:cNvPr id="104" name="Straight Connector 52">
            <a:extLst>
              <a:ext uri="{FF2B5EF4-FFF2-40B4-BE49-F238E27FC236}">
                <a16:creationId xmlns:a16="http://schemas.microsoft.com/office/drawing/2014/main" id="{73171B29-F935-4101-AB6D-4DC681DE9EAD}"/>
              </a:ext>
            </a:extLst>
          </p:cNvPr>
          <p:cNvCxnSpPr/>
          <p:nvPr/>
        </p:nvCxnSpPr>
        <p:spPr>
          <a:xfrm flipV="1">
            <a:off x="2050645" y="2556820"/>
            <a:ext cx="2100355" cy="1546114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53">
            <a:extLst>
              <a:ext uri="{FF2B5EF4-FFF2-40B4-BE49-F238E27FC236}">
                <a16:creationId xmlns:a16="http://schemas.microsoft.com/office/drawing/2014/main" id="{9379D671-5413-43B6-95BD-F6A5619B2974}"/>
              </a:ext>
            </a:extLst>
          </p:cNvPr>
          <p:cNvCxnSpPr/>
          <p:nvPr/>
        </p:nvCxnSpPr>
        <p:spPr>
          <a:xfrm flipH="1" flipV="1">
            <a:off x="2183304" y="2556820"/>
            <a:ext cx="1999083" cy="1529240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ectangle 54">
            <a:extLst>
              <a:ext uri="{FF2B5EF4-FFF2-40B4-BE49-F238E27FC236}">
                <a16:creationId xmlns:a16="http://schemas.microsoft.com/office/drawing/2014/main" id="{87F4B80B-8EFF-4B35-BAB3-F0C51903B2BF}"/>
              </a:ext>
            </a:extLst>
          </p:cNvPr>
          <p:cNvSpPr/>
          <p:nvPr/>
        </p:nvSpPr>
        <p:spPr>
          <a:xfrm>
            <a:off x="4444753" y="1901452"/>
            <a:ext cx="3398652" cy="469590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80875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747396-4A2F-4763-9E6D-5801391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Grover’s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4649A33-3A31-472C-9FA7-2AF399960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0" dirty="0">
                    <a:latin typeface="Cambria Math" panose="02040503050406030204" pitchFamily="18" charset="0"/>
                  </a:rPr>
                  <a:t>Search database with probabilities.</a:t>
                </a:r>
              </a:p>
              <a:p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The security level of AES128 will shrink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altLang="zh-TW" dirty="0"/>
                  <a:t>, AES256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altLang="zh-TW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p>
                    </m:sSup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4649A33-3A31-472C-9FA7-2AF399960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227BD3-456C-45E2-BB95-247760A9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787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Security Level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ABD7ED7E-15DA-472A-8098-D9FAE08BC38B}"/>
              </a:ext>
            </a:extLst>
          </p:cNvPr>
          <p:cNvGraphicFramePr>
            <a:graphicFrameLocks noGrp="1"/>
          </p:cNvGraphicFramePr>
          <p:nvPr/>
        </p:nvGraphicFramePr>
        <p:xfrm>
          <a:off x="1847528" y="2136126"/>
          <a:ext cx="8424936" cy="2589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048">
                  <a:extLst>
                    <a:ext uri="{9D8B030D-6E8A-4147-A177-3AD203B41FA5}">
                      <a16:colId xmlns:a16="http://schemas.microsoft.com/office/drawing/2014/main" val="453178185"/>
                    </a:ext>
                  </a:extLst>
                </a:gridCol>
                <a:gridCol w="7555888">
                  <a:extLst>
                    <a:ext uri="{9D8B030D-6E8A-4147-A177-3AD203B41FA5}">
                      <a16:colId xmlns:a16="http://schemas.microsoft.com/office/drawing/2014/main" val="4028195574"/>
                    </a:ext>
                  </a:extLst>
                </a:gridCol>
              </a:tblGrid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Level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Security</a:t>
                      </a:r>
                      <a:r>
                        <a:rPr lang="en-US" sz="1600" baseline="0" dirty="0"/>
                        <a:t> Description</a:t>
                      </a:r>
                      <a:endParaRPr lang="en-US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3270265095"/>
                  </a:ext>
                </a:extLst>
              </a:tr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At</a:t>
                      </a:r>
                      <a:r>
                        <a:rPr lang="en-US" sz="1600" baseline="0"/>
                        <a:t> least as hard to break as AES128   (exhaustive key search)</a:t>
                      </a:r>
                      <a:endParaRPr lang="en-US" sz="160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3473665551"/>
                  </a:ext>
                </a:extLst>
              </a:tr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II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At least as hard to break as SHA256   (collision search)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2582847432"/>
                  </a:ext>
                </a:extLst>
              </a:tr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III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At</a:t>
                      </a:r>
                      <a:r>
                        <a:rPr lang="en-US" sz="1600" baseline="0" dirty="0"/>
                        <a:t> least as hard to break as AES192    (exhaustive key search)</a:t>
                      </a:r>
                      <a:endParaRPr lang="en-US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842454230"/>
                  </a:ext>
                </a:extLst>
              </a:tr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IV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At least as hard to break as SHA384    (collision search)</a:t>
                      </a:r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846589921"/>
                  </a:ext>
                </a:extLst>
              </a:tr>
              <a:tr h="4315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</a:t>
                      </a:r>
                    </a:p>
                  </a:txBody>
                  <a:tcPr marL="91416" marR="91416" marT="45708" marB="4570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At</a:t>
                      </a:r>
                      <a:r>
                        <a:rPr lang="en-US" sz="1600" baseline="0" dirty="0"/>
                        <a:t> least as hard to break as AES256    (exhaustive key search)</a:t>
                      </a:r>
                      <a:endParaRPr lang="en-US" sz="1600" dirty="0"/>
                    </a:p>
                  </a:txBody>
                  <a:tcPr marL="91416" marR="91416" marT="45708" marB="45708"/>
                </a:tc>
                <a:extLst>
                  <a:ext uri="{0D108BD9-81ED-4DB2-BD59-A6C34878D82A}">
                    <a16:rowId xmlns:a16="http://schemas.microsoft.com/office/drawing/2014/main" val="4127154546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532EFBC-C5E2-46D9-8E97-0148CBF6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3061"/>
            <a:ext cx="10515600" cy="1193902"/>
          </a:xfrm>
        </p:spPr>
        <p:txBody>
          <a:bodyPr>
            <a:normAutofit/>
          </a:bodyPr>
          <a:lstStyle/>
          <a:p>
            <a:r>
              <a:rPr lang="en-US" altLang="zh-TW" dirty="0"/>
              <a:t>Only level I still survive under Grover’s algorithm.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36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F730C-52E2-426C-8654-53F3705C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Qbits</a:t>
            </a:r>
            <a:r>
              <a:rPr lang="en-US" altLang="zh-TW" dirty="0"/>
              <a:t> trend.</a:t>
            </a:r>
            <a:endParaRPr lang="zh-TW" altLang="en-US" dirty="0"/>
          </a:p>
        </p:txBody>
      </p:sp>
      <p:pic>
        <p:nvPicPr>
          <p:cNvPr id="2050" name="Picture 2" descr="A chart shows the progress of quantum computer with numbers Quantum... |  Download Scientific Diagram">
            <a:extLst>
              <a:ext uri="{FF2B5EF4-FFF2-40B4-BE49-F238E27FC236}">
                <a16:creationId xmlns:a16="http://schemas.microsoft.com/office/drawing/2014/main" id="{B00FBB49-888A-4B92-BB59-50603A5E9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929" y="1749425"/>
            <a:ext cx="80962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478B39-5FF6-4C50-9674-4A67B20F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7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70760-8873-4303-BFD9-87AF4E31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Side-channel attacks</a:t>
            </a:r>
            <a:endParaRPr lang="zh-TW" altLang="en-US" dirty="0"/>
          </a:p>
        </p:txBody>
      </p:sp>
      <p:pic>
        <p:nvPicPr>
          <p:cNvPr id="4" name="Picture 2" descr="C:\Users\shiuhungjr\Desktop\secu-sidechannel-attack.jpg">
            <a:extLst>
              <a:ext uri="{FF2B5EF4-FFF2-40B4-BE49-F238E27FC236}">
                <a16:creationId xmlns:a16="http://schemas.microsoft.com/office/drawing/2014/main" id="{6C3BE5C5-7857-43E5-AEFD-BA8B762F0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800" y="1530221"/>
            <a:ext cx="6840760" cy="489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7CF9F4-4708-4480-B55B-E31C71A3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790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396BFC-9161-4BF8-B9B1-3C50DAD7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RSA SCA 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DA7A74-BD9B-40F5-B5DA-213C62A2A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Observing the multiplication</a:t>
            </a:r>
            <a:endParaRPr lang="zh-TW" altLang="en-US" dirty="0"/>
          </a:p>
        </p:txBody>
      </p:sp>
      <p:pic>
        <p:nvPicPr>
          <p:cNvPr id="1026" name="Picture 2" descr="https://ctf-wiki.mahaloz.re/crypto/asymmetric/rsa/figure/trace.png">
            <a:extLst>
              <a:ext uri="{FF2B5EF4-FFF2-40B4-BE49-F238E27FC236}">
                <a16:creationId xmlns:a16="http://schemas.microsoft.com/office/drawing/2014/main" id="{FB7891D2-69F4-4322-B099-DFF654D9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76" y="3429000"/>
            <a:ext cx="9725637" cy="317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C2F926-83D2-459A-B429-AAE74A98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8871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1993B-AF35-44FF-AAFF-AFB5B1636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Solutions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5FC42B-0AE1-4249-B507-D07CC0C5C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quantum computing:</a:t>
            </a:r>
          </a:p>
          <a:p>
            <a:pPr lvl="1"/>
            <a:r>
              <a:rPr lang="en-US" altLang="zh-TW" dirty="0"/>
              <a:t>public-key crypto-systems:</a:t>
            </a:r>
          </a:p>
          <a:p>
            <a:pPr lvl="2"/>
            <a:r>
              <a:rPr lang="en-US" altLang="zh-TW" dirty="0"/>
              <a:t>Post Quantum Cryptography</a:t>
            </a:r>
          </a:p>
          <a:p>
            <a:pPr lvl="1"/>
            <a:r>
              <a:rPr lang="en-US" altLang="zh-TW" dirty="0"/>
              <a:t>private-key crypto-systems:</a:t>
            </a:r>
          </a:p>
          <a:p>
            <a:pPr lvl="2"/>
            <a:r>
              <a:rPr lang="en-US" altLang="zh-TW" dirty="0"/>
              <a:t>AES 384/512 (extending the key length)</a:t>
            </a:r>
          </a:p>
          <a:p>
            <a:r>
              <a:rPr lang="en-US" altLang="zh-TW" dirty="0"/>
              <a:t>For side-channel attack in IoT: </a:t>
            </a:r>
          </a:p>
          <a:p>
            <a:pPr lvl="1"/>
            <a:r>
              <a:rPr lang="en-US" altLang="zh-TW" dirty="0"/>
              <a:t>Customized AES</a:t>
            </a:r>
          </a:p>
          <a:p>
            <a:pPr lvl="1"/>
            <a:r>
              <a:rPr lang="en-US" altLang="zh-TW" dirty="0"/>
              <a:t>Signal masking</a:t>
            </a:r>
          </a:p>
          <a:p>
            <a:pPr lvl="1"/>
            <a:r>
              <a:rPr lang="en-US" altLang="zh-TW" dirty="0"/>
              <a:t>Pipeline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40523D-8D80-44CD-924E-C32243BA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086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85A3D236-FE5D-4414-8018-168325FFBCE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/>
              <a:t>PQC Timeline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C814084-8635-4371-8F1A-44699E0F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7554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altLang="zh-TW" sz="2200" dirty="0"/>
              <a:t>Aug 2016  	–  Draft submission requirements &amp; evaluation criteria  </a:t>
            </a:r>
          </a:p>
          <a:p>
            <a:r>
              <a:rPr lang="en-US" altLang="zh-TW" sz="2200" dirty="0"/>
              <a:t>Dec 2016 	–  Final requirements and criteria</a:t>
            </a:r>
          </a:p>
          <a:p>
            <a:r>
              <a:rPr lang="en-US" altLang="zh-TW" sz="2200" dirty="0"/>
              <a:t>Nov 2017  	–  Deadline for submissions</a:t>
            </a:r>
          </a:p>
          <a:p>
            <a:r>
              <a:rPr lang="en-US" altLang="zh-TW" sz="2200" dirty="0"/>
              <a:t>Apr 2018   	–  NIST PQC Workshop – submitters’ presentations</a:t>
            </a:r>
          </a:p>
          <a:p>
            <a:r>
              <a:rPr lang="en-US" altLang="zh-TW" sz="2200" dirty="0"/>
              <a:t>2018/2019 	–  2</a:t>
            </a:r>
            <a:r>
              <a:rPr lang="en-US" altLang="zh-TW" sz="2200" baseline="30000" dirty="0"/>
              <a:t>nd</a:t>
            </a:r>
            <a:r>
              <a:rPr lang="en-US" altLang="zh-TW" sz="2200" dirty="0"/>
              <a:t> Round begins (smaller number of submissions)</a:t>
            </a:r>
          </a:p>
          <a:p>
            <a:pPr marL="0" indent="0">
              <a:buNone/>
            </a:pPr>
            <a:r>
              <a:rPr lang="en-US" altLang="zh-TW" sz="2200" dirty="0"/>
              <a:t>                       	  -  minor changes allowed</a:t>
            </a:r>
          </a:p>
          <a:p>
            <a:r>
              <a:rPr lang="en-US" altLang="zh-TW" sz="2200" dirty="0"/>
              <a:t>Aug 2019  	–  2</a:t>
            </a:r>
            <a:r>
              <a:rPr lang="en-US" altLang="zh-TW" sz="2200" baseline="30000" dirty="0"/>
              <a:t>nd</a:t>
            </a:r>
            <a:r>
              <a:rPr lang="en-US" altLang="zh-TW" sz="2200" dirty="0"/>
              <a:t> NIST PQC Workshop</a:t>
            </a:r>
          </a:p>
          <a:p>
            <a:r>
              <a:rPr lang="en-US" altLang="zh-TW" sz="2200" dirty="0"/>
              <a:t>2020/2021 	-  Select algorithms or start a 3</a:t>
            </a:r>
            <a:r>
              <a:rPr lang="en-US" altLang="zh-TW" sz="2200" baseline="30000" dirty="0"/>
              <a:t>rd</a:t>
            </a:r>
            <a:r>
              <a:rPr lang="en-US" altLang="zh-TW" sz="2200" dirty="0"/>
              <a:t> Round</a:t>
            </a:r>
          </a:p>
          <a:p>
            <a:r>
              <a:rPr lang="en-US" altLang="zh-TW" sz="2200" dirty="0"/>
              <a:t>2022-2024 	-  Draft standards available</a:t>
            </a:r>
          </a:p>
          <a:p>
            <a:endParaRPr lang="en-US" altLang="zh-TW" sz="2200" dirty="0"/>
          </a:p>
          <a:p>
            <a:r>
              <a:rPr lang="en-US" altLang="zh-TW" sz="2200" dirty="0"/>
              <a:t>NIST will release reports on progress and selection rationale </a:t>
            </a:r>
          </a:p>
          <a:p>
            <a:endParaRPr lang="zh-TW" altLang="en-US" sz="2200" dirty="0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8BE11B68-4BA4-43D6-8701-71FECAB41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486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D2B922-1478-452D-A577-DE26D43ADA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1811309"/>
              </p:ext>
            </p:extLst>
          </p:nvPr>
        </p:nvGraphicFramePr>
        <p:xfrm>
          <a:off x="543730" y="1884784"/>
          <a:ext cx="10991132" cy="431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73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3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KEM/Encryption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Lattice-based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Code-based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Multi-variate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Symmetric/Hash-based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335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標題 1">
            <a:extLst>
              <a:ext uri="{FF2B5EF4-FFF2-40B4-BE49-F238E27FC236}">
                <a16:creationId xmlns:a16="http://schemas.microsoft.com/office/drawing/2014/main" id="{85707A37-3320-4CDA-A570-97BBA4F5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/>
              <a:t>Submissions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A8D9E3-F783-4F36-9240-CC3D6F38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730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Round 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8222-6EE6-4AB4-929E-E9383EC50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5154" cy="4351338"/>
          </a:xfrm>
        </p:spPr>
        <p:txBody>
          <a:bodyPr/>
          <a:lstStyle/>
          <a:p>
            <a:r>
              <a:rPr lang="en-US" altLang="zh-TW" dirty="0"/>
              <a:t>Candidate: (7)</a:t>
            </a:r>
          </a:p>
          <a:p>
            <a:r>
              <a:rPr lang="en-US" altLang="zh-TW" dirty="0"/>
              <a:t>Key establishment</a:t>
            </a:r>
          </a:p>
          <a:p>
            <a:pPr lvl="1"/>
            <a:r>
              <a:rPr lang="en-US" altLang="zh-TW" dirty="0"/>
              <a:t>Classic </a:t>
            </a:r>
            <a:r>
              <a:rPr lang="en-US" altLang="zh-TW" dirty="0" err="1"/>
              <a:t>McEllece</a:t>
            </a:r>
            <a:endParaRPr lang="en-US" altLang="zh-TW" dirty="0"/>
          </a:p>
          <a:p>
            <a:pPr lvl="1"/>
            <a:r>
              <a:rPr lang="en-US" altLang="zh-TW" dirty="0"/>
              <a:t>CRYSTALS-KYBER</a:t>
            </a:r>
          </a:p>
          <a:p>
            <a:pPr lvl="1"/>
            <a:r>
              <a:rPr lang="en-US" altLang="zh-TW" dirty="0"/>
              <a:t>NTRU</a:t>
            </a:r>
          </a:p>
          <a:p>
            <a:pPr lvl="1"/>
            <a:r>
              <a:rPr lang="en-US" altLang="zh-TW" dirty="0"/>
              <a:t>SABER</a:t>
            </a:r>
          </a:p>
          <a:p>
            <a:r>
              <a:rPr lang="en-US" altLang="zh-TW" dirty="0"/>
              <a:t>Digital signature</a:t>
            </a:r>
          </a:p>
          <a:p>
            <a:pPr lvl="1"/>
            <a:r>
              <a:rPr lang="en-US" altLang="zh-TW" dirty="0"/>
              <a:t>CRYSTALS-DILITHIUM</a:t>
            </a:r>
          </a:p>
          <a:p>
            <a:pPr lvl="1"/>
            <a:r>
              <a:rPr lang="en-US" altLang="zh-TW" dirty="0"/>
              <a:t>FALCON</a:t>
            </a:r>
          </a:p>
          <a:p>
            <a:pPr lvl="1"/>
            <a:r>
              <a:rPr lang="en-US" altLang="zh-TW" dirty="0"/>
              <a:t>Rainbow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ACFEFF9-E888-493C-AC60-F6E3F31BF844}"/>
              </a:ext>
            </a:extLst>
          </p:cNvPr>
          <p:cNvSpPr txBox="1">
            <a:spLocks/>
          </p:cNvSpPr>
          <p:nvPr/>
        </p:nvSpPr>
        <p:spPr>
          <a:xfrm>
            <a:off x="6746846" y="1690688"/>
            <a:ext cx="544515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Alternative candidate: (8)</a:t>
            </a:r>
          </a:p>
          <a:p>
            <a:r>
              <a:rPr lang="en-US" altLang="zh-TW" dirty="0"/>
              <a:t>Key establishment</a:t>
            </a:r>
          </a:p>
          <a:p>
            <a:pPr lvl="1"/>
            <a:r>
              <a:rPr lang="en-US" altLang="zh-TW" dirty="0"/>
              <a:t>BIKE</a:t>
            </a:r>
          </a:p>
          <a:p>
            <a:pPr lvl="1"/>
            <a:r>
              <a:rPr lang="en-US" altLang="zh-TW" dirty="0" err="1"/>
              <a:t>FrodoKEM</a:t>
            </a:r>
            <a:endParaRPr lang="en-US" altLang="zh-TW" dirty="0"/>
          </a:p>
          <a:p>
            <a:pPr lvl="1"/>
            <a:r>
              <a:rPr lang="en-US" altLang="zh-TW" dirty="0"/>
              <a:t>HQC</a:t>
            </a:r>
          </a:p>
          <a:p>
            <a:pPr lvl="1"/>
            <a:r>
              <a:rPr lang="en-US" altLang="zh-TW" dirty="0"/>
              <a:t>NTRU Prime</a:t>
            </a:r>
          </a:p>
          <a:p>
            <a:pPr lvl="1"/>
            <a:r>
              <a:rPr lang="en-US" altLang="zh-TW" dirty="0"/>
              <a:t>SIKE</a:t>
            </a:r>
          </a:p>
          <a:p>
            <a:r>
              <a:rPr lang="en-US" altLang="zh-TW" dirty="0"/>
              <a:t>Digital signature</a:t>
            </a:r>
          </a:p>
          <a:p>
            <a:pPr lvl="1"/>
            <a:r>
              <a:rPr lang="en-US" altLang="zh-TW" dirty="0" err="1"/>
              <a:t>GeMSS</a:t>
            </a:r>
            <a:endParaRPr lang="en-US" altLang="zh-TW" dirty="0"/>
          </a:p>
          <a:p>
            <a:pPr lvl="1"/>
            <a:r>
              <a:rPr lang="en-US" altLang="zh-TW" dirty="0"/>
              <a:t>Picnic</a:t>
            </a:r>
          </a:p>
          <a:p>
            <a:pPr lvl="1"/>
            <a:r>
              <a:rPr lang="en-US" altLang="zh-TW" dirty="0"/>
              <a:t>SPHINCS+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2D7CE91-30F5-4E16-AC4D-187D78A7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707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Hardness of problems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2050" name="Picture 2" descr="C:\Users\shiuhungjr\Desktop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556792"/>
            <a:ext cx="7704856" cy="463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138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Lattice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Shortest Vector Problem (NP hard)</a:t>
            </a:r>
          </a:p>
          <a:p>
            <a:pPr lvl="1"/>
            <a:r>
              <a:rPr lang="en-US" altLang="zh-TW" dirty="0"/>
              <a:t>Given basis of a vector space </a:t>
            </a:r>
            <a:r>
              <a:rPr lang="en-US" altLang="zh-TW" i="1" dirty="0"/>
              <a:t>V</a:t>
            </a:r>
            <a:r>
              <a:rPr lang="en-US" altLang="zh-TW" dirty="0"/>
              <a:t> and a lattice </a:t>
            </a:r>
            <a:r>
              <a:rPr lang="en-US" altLang="zh-TW" i="1" dirty="0"/>
              <a:t>L</a:t>
            </a:r>
            <a:r>
              <a:rPr lang="en-US" altLang="zh-TW" dirty="0"/>
              <a:t> with a norm </a:t>
            </a:r>
            <a:r>
              <a:rPr lang="en-US" altLang="zh-TW" i="1" dirty="0"/>
              <a:t>N</a:t>
            </a:r>
            <a:r>
              <a:rPr lang="en-US" altLang="zh-TW" dirty="0"/>
              <a:t>, find the shortest non-zero vector in </a:t>
            </a:r>
            <a:r>
              <a:rPr lang="en-US" altLang="zh-TW" i="1" dirty="0"/>
              <a:t>V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37890" name="Picture 2" descr="C:\Users\shiuhungjr\Desktop\220px-SVP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847" y="3580234"/>
            <a:ext cx="5432523" cy="2765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317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RSA:</a:t>
            </a:r>
            <a:r>
              <a:rPr lang="zh-TW" altLang="en-US" dirty="0"/>
              <a:t> </a:t>
            </a:r>
            <a:r>
              <a:rPr lang="en-US" altLang="zh-TW" dirty="0"/>
              <a:t>Key Generation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Alice:</a:t>
                </a:r>
              </a:p>
              <a:p>
                <a:pPr lvl="1"/>
                <a:r>
                  <a:rPr lang="en-US" altLang="zh-TW" dirty="0"/>
                  <a:t>choose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𝑁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𝑝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i="1" dirty="0"/>
                  <a:t>p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are prime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𝑝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𝑞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find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𝑟</m:t>
                    </m:r>
                    <m:r>
                      <a:rPr lang="en-US" altLang="zh-TW" b="0" i="1" smtClean="0">
                        <a:latin typeface="Cambria Math"/>
                      </a:rPr>
                      <m:t>=(</m:t>
                    </m:r>
                    <m:r>
                      <a:rPr lang="en-US" altLang="zh-TW" b="0" i="1" smtClean="0">
                        <a:latin typeface="Cambria Math"/>
                      </a:rPr>
                      <m:t>𝑝</m:t>
                    </m:r>
                    <m:r>
                      <a:rPr lang="en-US" altLang="zh-TW" b="0" i="1" smtClean="0">
                        <a:latin typeface="Cambria Math"/>
                      </a:rPr>
                      <m:t>−1)×(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𝑞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−1)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choose </a:t>
                </a:r>
                <a:r>
                  <a:rPr lang="en-US" altLang="zh-TW" i="1" dirty="0"/>
                  <a:t>e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𝑒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𝑟</m:t>
                    </m:r>
                  </m:oMath>
                </a14:m>
                <a:r>
                  <a:rPr lang="en-US" altLang="zh-TW" dirty="0"/>
                  <a:t> and find </a:t>
                </a:r>
                <a:r>
                  <a:rPr lang="en-US" altLang="zh-TW" i="1" dirty="0"/>
                  <a:t>d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𝑒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TW" b="0" i="1" smtClean="0">
                        <a:latin typeface="Cambria Math"/>
                      </a:rPr>
                      <m:t>𝑑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release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𝑁</m:t>
                    </m:r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r>
                      <a:rPr lang="en-US" altLang="zh-TW" b="0" i="1" smtClean="0">
                        <a:latin typeface="Cambria Math"/>
                      </a:rPr>
                      <m:t>𝑒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 as the public key</a:t>
                </a:r>
              </a:p>
              <a:p>
                <a:pPr lvl="1"/>
                <a:r>
                  <a:rPr lang="en-US" altLang="zh-TW" dirty="0"/>
                  <a:t>obtain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𝑁</m:t>
                    </m:r>
                    <m:r>
                      <a:rPr lang="en-US" altLang="zh-TW" b="0" i="1" smtClean="0">
                        <a:latin typeface="Cambria Math"/>
                      </a:rPr>
                      <m:t>,</m:t>
                    </m:r>
                    <m:r>
                      <a:rPr lang="en-US" altLang="zh-TW" b="0" i="1" smtClean="0">
                        <a:latin typeface="Cambria Math"/>
                      </a:rPr>
                      <m:t>𝑑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 as the private key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658957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RSA: Encryption/Decryption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Encryption: (Bob)</a:t>
                </a:r>
              </a:p>
              <a:p>
                <a:pPr lvl="1"/>
                <a:r>
                  <a:rPr lang="en-US" altLang="zh-TW" dirty="0"/>
                  <a:t>plaintext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cipher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𝑐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𝑁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𝑒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deliver </a:t>
                </a:r>
                <a:r>
                  <a:rPr lang="en-US" altLang="zh-TW" i="1" dirty="0"/>
                  <a:t>c</a:t>
                </a:r>
                <a:endParaRPr lang="en-US" altLang="zh-TW" dirty="0"/>
              </a:p>
              <a:p>
                <a:r>
                  <a:rPr lang="en-US" altLang="zh-TW" dirty="0"/>
                  <a:t>Decryption: (Alice)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𝑁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≡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𝑁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𝑒𝑑</m:t>
                        </m:r>
                      </m:sup>
                    </m:sSup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𝑒𝑑</m:t>
                    </m:r>
                    <m:r>
                      <a:rPr lang="en-US" altLang="zh-TW" b="0" i="1" smtClean="0">
                        <a:latin typeface="Cambria Math"/>
                      </a:rPr>
                      <m:t>=1)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461331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(1/9)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685;p66"/>
          <p:cNvSpPr txBox="1">
            <a:spLocks/>
          </p:cNvSpPr>
          <p:nvPr/>
        </p:nvSpPr>
        <p:spPr>
          <a:xfrm>
            <a:off x="1981201" y="1719263"/>
            <a:ext cx="7991475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685" t="-1795" r="-457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  <p:pic>
        <p:nvPicPr>
          <p:cNvPr id="7" name="Google Shape;687;p66" descr="畫面剪輯"/>
          <p:cNvPicPr preferRelativeResize="0"/>
          <p:nvPr/>
        </p:nvPicPr>
        <p:blipFill rotWithShape="1">
          <a:blip r:embed="rId3">
            <a:alphaModFix/>
          </a:blip>
          <a:srcRect l="17708"/>
          <a:stretch/>
        </p:blipFill>
        <p:spPr>
          <a:xfrm>
            <a:off x="2343150" y="3140968"/>
            <a:ext cx="7987339" cy="1445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98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(2/9)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694;p67"/>
          <p:cNvSpPr txBox="1">
            <a:spLocks/>
          </p:cNvSpPr>
          <p:nvPr/>
        </p:nvSpPr>
        <p:spPr>
          <a:xfrm>
            <a:off x="1981200" y="1719263"/>
            <a:ext cx="8229600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665" t="-1795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65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(3/9)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701;p68"/>
          <p:cNvSpPr txBox="1">
            <a:spLocks/>
          </p:cNvSpPr>
          <p:nvPr/>
        </p:nvSpPr>
        <p:spPr>
          <a:xfrm>
            <a:off x="1981200" y="1719263"/>
            <a:ext cx="8229600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665" t="-1795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04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(4/9)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708;p69"/>
          <p:cNvSpPr txBox="1">
            <a:spLocks/>
          </p:cNvSpPr>
          <p:nvPr/>
        </p:nvSpPr>
        <p:spPr>
          <a:xfrm>
            <a:off x="1981200" y="1719263"/>
            <a:ext cx="8298873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t="-1242" r="-1027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  <p:pic>
        <p:nvPicPr>
          <p:cNvPr id="7" name="Shape 710" descr="畫面剪輯"/>
          <p:cNvPicPr preferRelativeResize="0"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4492467" y="3645025"/>
            <a:ext cx="3276337" cy="4605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987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(5/9)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716;p70"/>
          <p:cNvSpPr txBox="1">
            <a:spLocks/>
          </p:cNvSpPr>
          <p:nvPr/>
        </p:nvSpPr>
        <p:spPr>
          <a:xfrm>
            <a:off x="1981200" y="1719263"/>
            <a:ext cx="8229600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740" t="-1795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  <p:pic>
        <p:nvPicPr>
          <p:cNvPr id="7" name="Google Shape;718;p70" descr="畫面剪輯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9728" y="5556971"/>
            <a:ext cx="5807573" cy="5131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422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(6/9)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7" name="Google Shape;724;p71"/>
          <p:cNvSpPr txBox="1">
            <a:spLocks/>
          </p:cNvSpPr>
          <p:nvPr/>
        </p:nvSpPr>
        <p:spPr>
          <a:xfrm>
            <a:off x="1981200" y="1719263"/>
            <a:ext cx="8229600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740" t="-1795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  <p:pic>
        <p:nvPicPr>
          <p:cNvPr id="8" name="Google Shape;726;p71" descr="畫面剪輯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2048" y="3145923"/>
            <a:ext cx="4350402" cy="477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27;p71" descr="畫面剪輯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4364" y="4500904"/>
            <a:ext cx="4309037" cy="4891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434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(7/9)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Google Shape;733;p72" descr="畫面剪輯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31505" y="1124744"/>
            <a:ext cx="6319761" cy="5733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2226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(8/9)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Even if the largest coefficient of </a:t>
            </a:r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</a:t>
            </a:r>
            <a:r>
              <a:rPr lang="en-US" altLang="zh-TW" dirty="0">
                <a:latin typeface="Cambria Math"/>
                <a:ea typeface="Cambria Math"/>
              </a:rPr>
              <a:t>∗</a:t>
            </a:r>
            <a:r>
              <a:rPr lang="en-US" altLang="zh-TW" i="1" dirty="0"/>
              <a:t>r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happens to coincide with the largest coefficient of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</a:t>
            </a:r>
            <a:r>
              <a:rPr lang="en-US" altLang="zh-TW" dirty="0">
                <a:latin typeface="Cambria Math"/>
                <a:ea typeface="Cambria Math"/>
              </a:rPr>
              <a:t> ∗ </a:t>
            </a:r>
            <a:r>
              <a:rPr lang="en-US" altLang="zh-TW" i="1" dirty="0"/>
              <a:t>m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), the largest coefficient of                                                      has magnitude at most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9" name="Google Shape;759;p75" descr="畫面剪輯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5190" y="3161642"/>
            <a:ext cx="4418962" cy="41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60;p75" descr="畫面剪輯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7688" y="4268364"/>
            <a:ext cx="5323558" cy="975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0315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NTRUEncryption</a:t>
            </a:r>
            <a:r>
              <a:rPr lang="en-US" altLang="zh-TW" dirty="0"/>
              <a:t> (9/9)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6" name="Google Shape;766;p76"/>
          <p:cNvSpPr txBox="1">
            <a:spLocks/>
          </p:cNvSpPr>
          <p:nvPr/>
        </p:nvSpPr>
        <p:spPr>
          <a:xfrm>
            <a:off x="1981200" y="1719263"/>
            <a:ext cx="8229600" cy="441166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l="-740" t="-1795" r="-146"/>
            </a:stretch>
          </a:blipFill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2"/>
              </a:buClr>
              <a:buSzPts val="2100"/>
              <a:buFont typeface="Noto Sans Symbols"/>
              <a:buChar char="●"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 </a:t>
            </a:r>
            <a:endParaRPr lang="en-US"/>
          </a:p>
        </p:txBody>
      </p:sp>
      <p:pic>
        <p:nvPicPr>
          <p:cNvPr id="7" name="Google Shape;769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7120" y="3802064"/>
            <a:ext cx="7662863" cy="156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335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Lattice and </a:t>
            </a:r>
            <a:r>
              <a:rPr lang="en-US" altLang="zh-TW" dirty="0" err="1"/>
              <a:t>NTRUEncryption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Finding </a:t>
            </a:r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and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from </a:t>
            </a:r>
            <a:r>
              <a:rPr lang="en-US" altLang="zh-TW" i="1" dirty="0"/>
              <a:t>h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is hard</a:t>
            </a:r>
          </a:p>
          <a:p>
            <a:endParaRPr lang="en-US" altLang="zh-TW" dirty="0"/>
          </a:p>
          <a:p>
            <a:r>
              <a:rPr lang="en-US" altLang="zh-TW" i="1" dirty="0"/>
              <a:t>h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can be seen as given basis, </a:t>
            </a:r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and 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x</a:t>
            </a:r>
            <a:r>
              <a:rPr lang="en-US" altLang="zh-TW" dirty="0"/>
              <a:t>) can be seen as shortest vectors.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2495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Code based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Coding problem is NP hard:</a:t>
            </a:r>
          </a:p>
          <a:p>
            <a:endParaRPr lang="en-US" altLang="zh-TW" dirty="0"/>
          </a:p>
          <a:p>
            <a:r>
              <a:rPr lang="en-US" altLang="zh-TW" dirty="0"/>
              <a:t>Input: A binary matrix </a:t>
            </a:r>
            <a:r>
              <a:rPr lang="en-US" altLang="zh-TW" i="1" dirty="0"/>
              <a:t>H</a:t>
            </a:r>
            <a:r>
              <a:rPr lang="en-US" altLang="zh-TW" dirty="0"/>
              <a:t>, a binary vector </a:t>
            </a:r>
            <a:r>
              <a:rPr lang="en-US" altLang="zh-TW" i="1" dirty="0"/>
              <a:t>s</a:t>
            </a:r>
            <a:r>
              <a:rPr lang="en-US" altLang="zh-TW" dirty="0"/>
              <a:t> and a nonnegative integer </a:t>
            </a:r>
            <a:r>
              <a:rPr lang="en-US" altLang="zh-TW" i="1" dirty="0"/>
              <a:t>w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Question: Is there a vector </a:t>
            </a:r>
            <a:r>
              <a:rPr lang="en-US" altLang="zh-TW" i="1" dirty="0"/>
              <a:t>x</a:t>
            </a:r>
            <a:r>
              <a:rPr lang="en-US" altLang="zh-TW" dirty="0"/>
              <a:t> of Hamming weight &lt;= </a:t>
            </a:r>
            <a:r>
              <a:rPr lang="en-US" altLang="zh-TW" i="1" dirty="0"/>
              <a:t>w</a:t>
            </a:r>
            <a:r>
              <a:rPr lang="en-US" altLang="zh-TW" dirty="0"/>
              <a:t> such that </a:t>
            </a:r>
            <a:r>
              <a:rPr lang="en-US" altLang="zh-TW" i="1" dirty="0" err="1"/>
              <a:t>Hx</a:t>
            </a:r>
            <a:r>
              <a:rPr lang="en-US" altLang="zh-TW" dirty="0"/>
              <a:t>=</a:t>
            </a:r>
            <a:r>
              <a:rPr lang="en-US" altLang="zh-TW" i="1" dirty="0"/>
              <a:t>s</a:t>
            </a:r>
            <a:r>
              <a:rPr lang="en-US" altLang="zh-TW" dirty="0"/>
              <a:t>?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32203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(1/13)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1742282"/>
            <a:ext cx="6877050" cy="399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543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(2/13)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439" y="1752600"/>
            <a:ext cx="671512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9621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(3/13)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014" y="1504950"/>
            <a:ext cx="66579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2875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(4/13)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600200"/>
            <a:ext cx="73437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230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(5/13)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9" y="1519239"/>
            <a:ext cx="6943725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3826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(6/13)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481139"/>
            <a:ext cx="725805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6659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(7/13)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1471614"/>
            <a:ext cx="678180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7283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(8/13)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1495425"/>
            <a:ext cx="67627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3267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(9/13)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76389"/>
            <a:ext cx="670560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725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(10/13)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9" y="1590675"/>
            <a:ext cx="68294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3960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(11/13)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1604964"/>
            <a:ext cx="653415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29896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(12/13)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9" y="1581150"/>
            <a:ext cx="67532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8695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McEliece</a:t>
            </a:r>
            <a:r>
              <a:rPr lang="en-US" altLang="zh-TW" dirty="0"/>
              <a:t> (13/13)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4" y="2005014"/>
            <a:ext cx="6810375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5958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46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E72A2BF-7998-40A3-970B-3761C9CCF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8" t="6360" r="891" b="10649"/>
          <a:stretch/>
        </p:blipFill>
        <p:spPr>
          <a:xfrm>
            <a:off x="2351584" y="1290440"/>
            <a:ext cx="7417936" cy="3866913"/>
          </a:xfr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5B61285A-A306-7947-822D-6F4FB05442C7}"/>
              </a:ext>
            </a:extLst>
          </p:cNvPr>
          <p:cNvSpPr txBox="1"/>
          <p:nvPr/>
        </p:nvSpPr>
        <p:spPr>
          <a:xfrm>
            <a:off x="3287689" y="171451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KEM/Encryption (Category 1)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9B3DA37-FC7F-A24D-8AA4-A08183274B04}"/>
              </a:ext>
            </a:extLst>
          </p:cNvPr>
          <p:cNvSpPr txBox="1"/>
          <p:nvPr/>
        </p:nvSpPr>
        <p:spPr>
          <a:xfrm>
            <a:off x="3359697" y="5517233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Public Key Size  (bytes)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ACE86664-6A77-244D-B7C8-F0BD1DC9F0D4}"/>
              </a:ext>
            </a:extLst>
          </p:cNvPr>
          <p:cNvSpPr txBox="1"/>
          <p:nvPr/>
        </p:nvSpPr>
        <p:spPr>
          <a:xfrm rot="16200000">
            <a:off x="-1013758" y="2958020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Ciphertext</a:t>
            </a:r>
            <a:r>
              <a:rPr lang="en-US" sz="3200" dirty="0"/>
              <a:t> Size  (bytes)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D3D6E7-5747-A84A-97E9-97777654509C}"/>
              </a:ext>
            </a:extLst>
          </p:cNvPr>
          <p:cNvGrpSpPr/>
          <p:nvPr/>
        </p:nvGrpSpPr>
        <p:grpSpPr>
          <a:xfrm>
            <a:off x="9912424" y="228303"/>
            <a:ext cx="621006" cy="5857875"/>
            <a:chOff x="11213299" y="228302"/>
            <a:chExt cx="621006" cy="5857875"/>
          </a:xfrm>
        </p:grpSpPr>
        <p:sp>
          <p:nvSpPr>
            <p:cNvPr id="11" name="TextBox 6">
              <a:extLst>
                <a:ext uri="{FF2B5EF4-FFF2-40B4-BE49-F238E27FC236}">
                  <a16:creationId xmlns:a16="http://schemas.microsoft.com/office/drawing/2014/main" id="{525E0E6B-210E-0749-BAB8-6E09E5C6A8C6}"/>
                </a:ext>
              </a:extLst>
            </p:cNvPr>
            <p:cNvSpPr txBox="1"/>
            <p:nvPr/>
          </p:nvSpPr>
          <p:spPr>
            <a:xfrm rot="16200000">
              <a:off x="8612980" y="2864852"/>
              <a:ext cx="58578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Lattice      Codes      Other</a:t>
              </a:r>
            </a:p>
          </p:txBody>
        </p:sp>
        <p:sp>
          <p:nvSpPr>
            <p:cNvPr id="12" name="Oval 2">
              <a:extLst>
                <a:ext uri="{FF2B5EF4-FFF2-40B4-BE49-F238E27FC236}">
                  <a16:creationId xmlns:a16="http://schemas.microsoft.com/office/drawing/2014/main" id="{ECFCFB0A-285C-6E42-BFD7-7D21F27DE9D8}"/>
                </a:ext>
              </a:extLst>
            </p:cNvPr>
            <p:cNvSpPr/>
            <p:nvPr/>
          </p:nvSpPr>
          <p:spPr>
            <a:xfrm>
              <a:off x="11213299" y="2986073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3" name="Oval 7">
              <a:extLst>
                <a:ext uri="{FF2B5EF4-FFF2-40B4-BE49-F238E27FC236}">
                  <a16:creationId xmlns:a16="http://schemas.microsoft.com/office/drawing/2014/main" id="{D500D207-70A3-E748-9F25-4D0A7E7083C7}"/>
                </a:ext>
              </a:extLst>
            </p:cNvPr>
            <p:cNvSpPr/>
            <p:nvPr/>
          </p:nvSpPr>
          <p:spPr>
            <a:xfrm>
              <a:off x="11237106" y="4210030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4" name="Oval 8">
              <a:extLst>
                <a:ext uri="{FF2B5EF4-FFF2-40B4-BE49-F238E27FC236}">
                  <a16:creationId xmlns:a16="http://schemas.microsoft.com/office/drawing/2014/main" id="{DAE4205E-DF01-1F40-AB44-E95AB7F45201}"/>
                </a:ext>
              </a:extLst>
            </p:cNvPr>
            <p:cNvSpPr/>
            <p:nvPr/>
          </p:nvSpPr>
          <p:spPr>
            <a:xfrm>
              <a:off x="11237116" y="1909744"/>
              <a:ext cx="142875" cy="142875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420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47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B040613-E43B-4B5D-A2FE-4DBF38FDA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7" t="9481" r="6560" b="5093"/>
          <a:stretch/>
        </p:blipFill>
        <p:spPr>
          <a:xfrm>
            <a:off x="2409825" y="1259584"/>
            <a:ext cx="7468714" cy="3761069"/>
          </a:xfrm>
        </p:spPr>
      </p:pic>
      <p:sp>
        <p:nvSpPr>
          <p:cNvPr id="12" name="TextBox 13">
            <a:extLst>
              <a:ext uri="{FF2B5EF4-FFF2-40B4-BE49-F238E27FC236}">
                <a16:creationId xmlns:a16="http://schemas.microsoft.com/office/drawing/2014/main" id="{7B4D0788-D2BB-4244-985B-150B5CE045DB}"/>
              </a:ext>
            </a:extLst>
          </p:cNvPr>
          <p:cNvSpPr txBox="1"/>
          <p:nvPr/>
        </p:nvSpPr>
        <p:spPr>
          <a:xfrm>
            <a:off x="3359697" y="171450"/>
            <a:ext cx="5857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KEM/Encryption (Category 3)  Performance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7D73A5E-DDF2-4C41-9214-95B8764B971D}"/>
              </a:ext>
            </a:extLst>
          </p:cNvPr>
          <p:cNvSpPr txBox="1"/>
          <p:nvPr/>
        </p:nvSpPr>
        <p:spPr>
          <a:xfrm>
            <a:off x="3215681" y="5517233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Enc</a:t>
            </a:r>
            <a:r>
              <a:rPr lang="en-US" sz="3200" dirty="0"/>
              <a:t> Time  (1000s of cycles)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B1B49A26-B808-1B4C-BF5D-51A3DFDD1281}"/>
              </a:ext>
            </a:extLst>
          </p:cNvPr>
          <p:cNvSpPr txBox="1"/>
          <p:nvPr/>
        </p:nvSpPr>
        <p:spPr>
          <a:xfrm rot="16200000">
            <a:off x="-1005045" y="2958020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Dec Time  (1000s of cycles)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43D3D6E7-5747-A84A-97E9-97777654509C}"/>
              </a:ext>
            </a:extLst>
          </p:cNvPr>
          <p:cNvGrpSpPr/>
          <p:nvPr/>
        </p:nvGrpSpPr>
        <p:grpSpPr>
          <a:xfrm>
            <a:off x="9912424" y="228303"/>
            <a:ext cx="621006" cy="5857875"/>
            <a:chOff x="11213299" y="228302"/>
            <a:chExt cx="621006" cy="5857875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525E0E6B-210E-0749-BAB8-6E09E5C6A8C6}"/>
                </a:ext>
              </a:extLst>
            </p:cNvPr>
            <p:cNvSpPr txBox="1"/>
            <p:nvPr/>
          </p:nvSpPr>
          <p:spPr>
            <a:xfrm rot="16200000">
              <a:off x="8612980" y="2864852"/>
              <a:ext cx="58578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Lattice      Codes      Other</a:t>
              </a:r>
            </a:p>
          </p:txBody>
        </p:sp>
        <p:sp>
          <p:nvSpPr>
            <p:cNvPr id="17" name="Oval 2">
              <a:extLst>
                <a:ext uri="{FF2B5EF4-FFF2-40B4-BE49-F238E27FC236}">
                  <a16:creationId xmlns:a16="http://schemas.microsoft.com/office/drawing/2014/main" id="{ECFCFB0A-285C-6E42-BFD7-7D21F27DE9D8}"/>
                </a:ext>
              </a:extLst>
            </p:cNvPr>
            <p:cNvSpPr/>
            <p:nvPr/>
          </p:nvSpPr>
          <p:spPr>
            <a:xfrm>
              <a:off x="11213299" y="2986073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D500D207-70A3-E748-9F25-4D0A7E7083C7}"/>
                </a:ext>
              </a:extLst>
            </p:cNvPr>
            <p:cNvSpPr/>
            <p:nvPr/>
          </p:nvSpPr>
          <p:spPr>
            <a:xfrm>
              <a:off x="11237106" y="4210030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DAE4205E-DF01-1F40-AB44-E95AB7F45201}"/>
                </a:ext>
              </a:extLst>
            </p:cNvPr>
            <p:cNvSpPr/>
            <p:nvPr/>
          </p:nvSpPr>
          <p:spPr>
            <a:xfrm>
              <a:off x="11237116" y="1909744"/>
              <a:ext cx="142875" cy="142875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69787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5F817328-BF49-4DCD-9FA7-D9FAF3F2D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10204" r="6103" b="5154"/>
          <a:stretch/>
        </p:blipFill>
        <p:spPr>
          <a:xfrm>
            <a:off x="2639617" y="1484785"/>
            <a:ext cx="7217041" cy="3583001"/>
          </a:xfr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550BB929-FFF9-1945-8BD3-DA6256C1C69D}"/>
              </a:ext>
            </a:extLst>
          </p:cNvPr>
          <p:cNvSpPr txBox="1"/>
          <p:nvPr/>
        </p:nvSpPr>
        <p:spPr>
          <a:xfrm>
            <a:off x="2999656" y="188640"/>
            <a:ext cx="66936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KEM/Encryption (Category 3)  Performance by Size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40362A3-5BA0-344A-837C-7AA237C838A1}"/>
              </a:ext>
            </a:extLst>
          </p:cNvPr>
          <p:cNvSpPr txBox="1"/>
          <p:nvPr/>
        </p:nvSpPr>
        <p:spPr>
          <a:xfrm>
            <a:off x="3143673" y="5448126"/>
            <a:ext cx="5857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KeyGen</a:t>
            </a:r>
            <a:r>
              <a:rPr lang="en-US" sz="3200" dirty="0"/>
              <a:t> + </a:t>
            </a:r>
            <a:r>
              <a:rPr lang="en-US" sz="3200" dirty="0" err="1"/>
              <a:t>Enc</a:t>
            </a:r>
            <a:r>
              <a:rPr lang="en-US" sz="3200" dirty="0"/>
              <a:t> Time  (1000s of cycles)</a:t>
            </a: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6DEEA50C-405F-2548-B28E-050BC0CF6032}"/>
              </a:ext>
            </a:extLst>
          </p:cNvPr>
          <p:cNvSpPr txBox="1"/>
          <p:nvPr/>
        </p:nvSpPr>
        <p:spPr>
          <a:xfrm rot="16200000">
            <a:off x="-776118" y="2968982"/>
            <a:ext cx="58578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Public Key + </a:t>
            </a:r>
            <a:r>
              <a:rPr lang="en-US" sz="3200" dirty="0" err="1"/>
              <a:t>Ciphertext</a:t>
            </a:r>
            <a:r>
              <a:rPr lang="en-US" sz="3200" dirty="0"/>
              <a:t> Size  (bytes)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43D3D6E7-5747-A84A-97E9-97777654509C}"/>
              </a:ext>
            </a:extLst>
          </p:cNvPr>
          <p:cNvGrpSpPr/>
          <p:nvPr/>
        </p:nvGrpSpPr>
        <p:grpSpPr>
          <a:xfrm>
            <a:off x="9912424" y="228303"/>
            <a:ext cx="621006" cy="5857875"/>
            <a:chOff x="11213299" y="228302"/>
            <a:chExt cx="621006" cy="5857875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525E0E6B-210E-0749-BAB8-6E09E5C6A8C6}"/>
                </a:ext>
              </a:extLst>
            </p:cNvPr>
            <p:cNvSpPr txBox="1"/>
            <p:nvPr/>
          </p:nvSpPr>
          <p:spPr>
            <a:xfrm rot="16200000">
              <a:off x="8612980" y="2864852"/>
              <a:ext cx="58578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Lattice      Codes      Other</a:t>
              </a:r>
            </a:p>
          </p:txBody>
        </p:sp>
        <p:sp>
          <p:nvSpPr>
            <p:cNvPr id="17" name="Oval 2">
              <a:extLst>
                <a:ext uri="{FF2B5EF4-FFF2-40B4-BE49-F238E27FC236}">
                  <a16:creationId xmlns:a16="http://schemas.microsoft.com/office/drawing/2014/main" id="{ECFCFB0A-285C-6E42-BFD7-7D21F27DE9D8}"/>
                </a:ext>
              </a:extLst>
            </p:cNvPr>
            <p:cNvSpPr/>
            <p:nvPr/>
          </p:nvSpPr>
          <p:spPr>
            <a:xfrm>
              <a:off x="11213299" y="2986073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D500D207-70A3-E748-9F25-4D0A7E7083C7}"/>
                </a:ext>
              </a:extLst>
            </p:cNvPr>
            <p:cNvSpPr/>
            <p:nvPr/>
          </p:nvSpPr>
          <p:spPr>
            <a:xfrm>
              <a:off x="11237106" y="4210030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9" name="Oval 8">
              <a:extLst>
                <a:ext uri="{FF2B5EF4-FFF2-40B4-BE49-F238E27FC236}">
                  <a16:creationId xmlns:a16="http://schemas.microsoft.com/office/drawing/2014/main" id="{DAE4205E-DF01-1F40-AB44-E95AB7F45201}"/>
                </a:ext>
              </a:extLst>
            </p:cNvPr>
            <p:cNvSpPr/>
            <p:nvPr/>
          </p:nvSpPr>
          <p:spPr>
            <a:xfrm>
              <a:off x="11237116" y="1909744"/>
              <a:ext cx="142875" cy="142875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7641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3AC151D6-83AB-46C7-A241-B93AE1092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t="8935" r="10983" b="4487"/>
          <a:stretch/>
        </p:blipFill>
        <p:spPr>
          <a:xfrm>
            <a:off x="2509747" y="814388"/>
            <a:ext cx="7457213" cy="4918868"/>
          </a:xfr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2A66900B-F101-4746-BEEF-072817356770}"/>
              </a:ext>
            </a:extLst>
          </p:cNvPr>
          <p:cNvSpPr txBox="1"/>
          <p:nvPr/>
        </p:nvSpPr>
        <p:spPr>
          <a:xfrm>
            <a:off x="2956229" y="200024"/>
            <a:ext cx="6693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Signatures (Category 1)  Performance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41688415-5B42-EF43-9FBE-00F6F10AE92C}"/>
              </a:ext>
            </a:extLst>
          </p:cNvPr>
          <p:cNvGrpSpPr/>
          <p:nvPr/>
        </p:nvGrpSpPr>
        <p:grpSpPr>
          <a:xfrm>
            <a:off x="9912425" y="430856"/>
            <a:ext cx="559451" cy="5857875"/>
            <a:chOff x="11213299" y="228302"/>
            <a:chExt cx="559451" cy="5857875"/>
          </a:xfrm>
        </p:grpSpPr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83BE1B6D-5B7F-CD41-8C78-DBA0B66ED1E9}"/>
                </a:ext>
              </a:extLst>
            </p:cNvPr>
            <p:cNvSpPr txBox="1"/>
            <p:nvPr/>
          </p:nvSpPr>
          <p:spPr>
            <a:xfrm rot="16200000">
              <a:off x="8612980" y="2926407"/>
              <a:ext cx="5857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Lattice      Hash/Symmetric      Multivariate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67777784-5B57-BF4D-9EA0-E9EACE16B5B4}"/>
                </a:ext>
              </a:extLst>
            </p:cNvPr>
            <p:cNvSpPr/>
            <p:nvPr/>
          </p:nvSpPr>
          <p:spPr>
            <a:xfrm>
              <a:off x="11213299" y="3471855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D1222580-F569-2040-93DD-A1B43DC2F47F}"/>
                </a:ext>
              </a:extLst>
            </p:cNvPr>
            <p:cNvSpPr/>
            <p:nvPr/>
          </p:nvSpPr>
          <p:spPr>
            <a:xfrm>
              <a:off x="11237106" y="5238739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BE361ABD-F96B-3848-99F5-DAE5051C9752}"/>
                </a:ext>
              </a:extLst>
            </p:cNvPr>
            <p:cNvSpPr/>
            <p:nvPr/>
          </p:nvSpPr>
          <p:spPr>
            <a:xfrm>
              <a:off x="11237116" y="1281084"/>
              <a:ext cx="142875" cy="142875"/>
            </a:xfrm>
            <a:prstGeom prst="ellipse">
              <a:avLst/>
            </a:prstGeom>
            <a:solidFill>
              <a:srgbClr val="A5A5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7B75B04F-A325-654F-A0BB-B2B64FBD9FED}"/>
              </a:ext>
            </a:extLst>
          </p:cNvPr>
          <p:cNvSpPr txBox="1"/>
          <p:nvPr/>
        </p:nvSpPr>
        <p:spPr>
          <a:xfrm>
            <a:off x="3287689" y="5868562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KeyGen</a:t>
            </a:r>
            <a:r>
              <a:rPr lang="en-US" sz="3200" dirty="0"/>
              <a:t> Time  (1000s of cycles)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C3559969-3FE6-FF4C-BDAE-F91A5CF8DD5A}"/>
              </a:ext>
            </a:extLst>
          </p:cNvPr>
          <p:cNvSpPr txBox="1"/>
          <p:nvPr/>
        </p:nvSpPr>
        <p:spPr>
          <a:xfrm rot="16200000">
            <a:off x="-1066600" y="3191238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Signing Time  (1000s of cycles)</a:t>
            </a:r>
          </a:p>
        </p:txBody>
      </p:sp>
    </p:spTree>
    <p:extLst>
      <p:ext uri="{BB962C8B-B14F-4D97-AF65-F5344CB8AC3E}">
        <p14:creationId xmlns:p14="http://schemas.microsoft.com/office/powerpoint/2010/main" val="35736202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2B5464B-F430-42D5-8E0F-56C92C8FF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" t="9453" r="10935" b="4999"/>
          <a:stretch/>
        </p:blipFill>
        <p:spPr>
          <a:xfrm>
            <a:off x="2362442" y="828675"/>
            <a:ext cx="7815262" cy="5100638"/>
          </a:xfr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0D17E16A-2D6B-CC48-BFA1-87B6186DD313}"/>
              </a:ext>
            </a:extLst>
          </p:cNvPr>
          <p:cNvSpPr txBox="1"/>
          <p:nvPr/>
        </p:nvSpPr>
        <p:spPr>
          <a:xfrm>
            <a:off x="2783632" y="200024"/>
            <a:ext cx="6693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Signature (Category 1)  Sizes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1F79630-277C-DA4C-8852-5075B4F6833C}"/>
              </a:ext>
            </a:extLst>
          </p:cNvPr>
          <p:cNvGrpSpPr/>
          <p:nvPr/>
        </p:nvGrpSpPr>
        <p:grpSpPr>
          <a:xfrm>
            <a:off x="10056441" y="316556"/>
            <a:ext cx="559451" cy="5857875"/>
            <a:chOff x="11213299" y="228302"/>
            <a:chExt cx="559451" cy="5857875"/>
          </a:xfrm>
        </p:grpSpPr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2F87D547-53C9-C846-93E6-2E2C8D09F807}"/>
                </a:ext>
              </a:extLst>
            </p:cNvPr>
            <p:cNvSpPr txBox="1"/>
            <p:nvPr/>
          </p:nvSpPr>
          <p:spPr>
            <a:xfrm rot="16200000">
              <a:off x="8612980" y="2926407"/>
              <a:ext cx="5857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Lattice      Hash/Symmetric      Multivariate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2A2F2165-2825-6E43-90F5-C42CF6C45543}"/>
                </a:ext>
              </a:extLst>
            </p:cNvPr>
            <p:cNvSpPr/>
            <p:nvPr/>
          </p:nvSpPr>
          <p:spPr>
            <a:xfrm>
              <a:off x="11213299" y="3471855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822CC30E-7EA4-FD44-B660-81ADB0ECC568}"/>
                </a:ext>
              </a:extLst>
            </p:cNvPr>
            <p:cNvSpPr/>
            <p:nvPr/>
          </p:nvSpPr>
          <p:spPr>
            <a:xfrm>
              <a:off x="11237106" y="5238739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5D7D98D0-831F-2D44-8B29-FB601CA08D9D}"/>
                </a:ext>
              </a:extLst>
            </p:cNvPr>
            <p:cNvSpPr/>
            <p:nvPr/>
          </p:nvSpPr>
          <p:spPr>
            <a:xfrm>
              <a:off x="11237116" y="1281084"/>
              <a:ext cx="142875" cy="142875"/>
            </a:xfrm>
            <a:prstGeom prst="ellipse">
              <a:avLst/>
            </a:prstGeom>
            <a:solidFill>
              <a:srgbClr val="A5A5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5D1CA187-615F-0443-80D4-D5855E5195F2}"/>
              </a:ext>
            </a:extLst>
          </p:cNvPr>
          <p:cNvSpPr txBox="1"/>
          <p:nvPr/>
        </p:nvSpPr>
        <p:spPr>
          <a:xfrm>
            <a:off x="3190454" y="6024563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Public Key Size  (bytes)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9D40231-7BDB-EF4E-9E2B-91C3A587D4D3}"/>
              </a:ext>
            </a:extLst>
          </p:cNvPr>
          <p:cNvSpPr txBox="1"/>
          <p:nvPr/>
        </p:nvSpPr>
        <p:spPr>
          <a:xfrm rot="16200000">
            <a:off x="-1077053" y="2953106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Signature Size  (bytes)</a:t>
            </a:r>
          </a:p>
        </p:txBody>
      </p:sp>
    </p:spTree>
    <p:extLst>
      <p:ext uri="{BB962C8B-B14F-4D97-AF65-F5344CB8AC3E}">
        <p14:creationId xmlns:p14="http://schemas.microsoft.com/office/powerpoint/2010/main" val="1350867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D373E10-A76D-4926-ADBC-AEF4FDBD2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9458" r="11499" b="4650"/>
          <a:stretch/>
        </p:blipFill>
        <p:spPr>
          <a:xfrm>
            <a:off x="2309722" y="836713"/>
            <a:ext cx="7818726" cy="5157033"/>
          </a:xfr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E255FA3F-3AF6-AE4D-8D3E-6EDBEE730FF2}"/>
              </a:ext>
            </a:extLst>
          </p:cNvPr>
          <p:cNvSpPr txBox="1"/>
          <p:nvPr/>
        </p:nvSpPr>
        <p:spPr>
          <a:xfrm>
            <a:off x="2351584" y="271462"/>
            <a:ext cx="7848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Signatures (Category 3)  Performance by Size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C3055211-DA07-E145-9339-AC6403CE04BB}"/>
              </a:ext>
            </a:extLst>
          </p:cNvPr>
          <p:cNvGrpSpPr/>
          <p:nvPr/>
        </p:nvGrpSpPr>
        <p:grpSpPr>
          <a:xfrm>
            <a:off x="10128449" y="316556"/>
            <a:ext cx="559451" cy="5857875"/>
            <a:chOff x="11213299" y="228302"/>
            <a:chExt cx="559451" cy="5857875"/>
          </a:xfrm>
        </p:grpSpPr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F5B0DCEE-FD10-0741-8700-E0A05A113A09}"/>
                </a:ext>
              </a:extLst>
            </p:cNvPr>
            <p:cNvSpPr txBox="1"/>
            <p:nvPr/>
          </p:nvSpPr>
          <p:spPr>
            <a:xfrm rot="16200000">
              <a:off x="8612980" y="2926407"/>
              <a:ext cx="5857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Lattice      Hash/Symmetric      Multivariate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390DE046-0778-2048-A487-3D9BF247866D}"/>
                </a:ext>
              </a:extLst>
            </p:cNvPr>
            <p:cNvSpPr/>
            <p:nvPr/>
          </p:nvSpPr>
          <p:spPr>
            <a:xfrm>
              <a:off x="11213299" y="3471855"/>
              <a:ext cx="142875" cy="1428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D2E6652-9213-C34E-8A35-EB9B839736D7}"/>
                </a:ext>
              </a:extLst>
            </p:cNvPr>
            <p:cNvSpPr/>
            <p:nvPr/>
          </p:nvSpPr>
          <p:spPr>
            <a:xfrm>
              <a:off x="11237106" y="5238739"/>
              <a:ext cx="142875" cy="142875"/>
            </a:xfrm>
            <a:prstGeom prst="ellipse">
              <a:avLst/>
            </a:prstGeom>
            <a:solidFill>
              <a:srgbClr val="EE7D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FACEC52C-81BF-F842-812B-DBC9D417E049}"/>
                </a:ext>
              </a:extLst>
            </p:cNvPr>
            <p:cNvSpPr/>
            <p:nvPr/>
          </p:nvSpPr>
          <p:spPr>
            <a:xfrm>
              <a:off x="11237116" y="1281084"/>
              <a:ext cx="142875" cy="142875"/>
            </a:xfrm>
            <a:prstGeom prst="ellipse">
              <a:avLst/>
            </a:prstGeom>
            <a:solidFill>
              <a:srgbClr val="A5A5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0797F05B-B644-D147-9D22-70F07036F91A}"/>
              </a:ext>
            </a:extLst>
          </p:cNvPr>
          <p:cNvSpPr txBox="1"/>
          <p:nvPr/>
        </p:nvSpPr>
        <p:spPr>
          <a:xfrm>
            <a:off x="2999657" y="5949281"/>
            <a:ext cx="6446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Public Key + Signature Size  (bytes)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4F7E4ADB-3476-7A48-B3B7-8C5F9E66F0FA}"/>
              </a:ext>
            </a:extLst>
          </p:cNvPr>
          <p:cNvSpPr txBox="1"/>
          <p:nvPr/>
        </p:nvSpPr>
        <p:spPr>
          <a:xfrm rot="16200000">
            <a:off x="-1066600" y="3191238"/>
            <a:ext cx="58578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Signing Time  (1000s of cycles)</a:t>
            </a:r>
          </a:p>
        </p:txBody>
      </p:sp>
    </p:spTree>
    <p:extLst>
      <p:ext uri="{BB962C8B-B14F-4D97-AF65-F5344CB8AC3E}">
        <p14:creationId xmlns:p14="http://schemas.microsoft.com/office/powerpoint/2010/main" val="4625977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CC7CB1-2CE7-4DEB-A6CF-993DA5EE4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Recall AES key scheduling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F31596-D2E7-4F2E-9248-E46EF2C0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52</a:t>
            </a:fld>
            <a:endParaRPr lang="zh-TW" altLang="en-US"/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C968C95C-D4E4-466F-8AA3-94DCBB79349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93328" y="1458970"/>
            <a:ext cx="4185725" cy="5262505"/>
          </a:xfrm>
          <a:prstGeom prst="rect">
            <a:avLst/>
          </a:prstGeom>
          <a:ln/>
        </p:spPr>
      </p:pic>
      <p:pic>
        <p:nvPicPr>
          <p:cNvPr id="6" name="image3.png">
            <a:extLst>
              <a:ext uri="{FF2B5EF4-FFF2-40B4-BE49-F238E27FC236}">
                <a16:creationId xmlns:a16="http://schemas.microsoft.com/office/drawing/2014/main" id="{51F7D8F6-A9F4-4DCD-8C3B-7CF25B160C0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474591" y="136524"/>
            <a:ext cx="4524081" cy="3068069"/>
          </a:xfrm>
          <a:prstGeom prst="rect">
            <a:avLst/>
          </a:prstGeom>
          <a:ln/>
        </p:spPr>
      </p:pic>
      <p:pic>
        <p:nvPicPr>
          <p:cNvPr id="7" name="image5.png">
            <a:extLst>
              <a:ext uri="{FF2B5EF4-FFF2-40B4-BE49-F238E27FC236}">
                <a16:creationId xmlns:a16="http://schemas.microsoft.com/office/drawing/2014/main" id="{DF4E792A-9C8F-4215-8410-0EC630A0DC4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79053" y="3274855"/>
            <a:ext cx="6553615" cy="34466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54393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AES 384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8222-6EE6-4AB4-929E-E9383EC5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E7BCE-7766-4DA9-B198-7B2AC6F7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53</a:t>
            </a:fld>
            <a:endParaRPr lang="zh-TW" altLang="en-US"/>
          </a:p>
        </p:txBody>
      </p:sp>
      <p:pic>
        <p:nvPicPr>
          <p:cNvPr id="5" name="Google Shape;145;p23">
            <a:extLst>
              <a:ext uri="{FF2B5EF4-FFF2-40B4-BE49-F238E27FC236}">
                <a16:creationId xmlns:a16="http://schemas.microsoft.com/office/drawing/2014/main" id="{6ED18219-8603-46B8-BC14-F509567CAAC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50" y="2174215"/>
            <a:ext cx="12030250" cy="45472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71706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AES 512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8222-6EE6-4AB4-929E-E9383EC5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AE180E-F861-4A07-B6C4-956E1797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54</a:t>
            </a:fld>
            <a:endParaRPr lang="zh-TW" altLang="en-US"/>
          </a:p>
        </p:txBody>
      </p:sp>
      <p:pic>
        <p:nvPicPr>
          <p:cNvPr id="5" name="Google Shape;159;p25">
            <a:extLst>
              <a:ext uri="{FF2B5EF4-FFF2-40B4-BE49-F238E27FC236}">
                <a16:creationId xmlns:a16="http://schemas.microsoft.com/office/drawing/2014/main" id="{244A7A08-2A93-4767-9BC7-371044CB70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929"/>
          <a:stretch/>
        </p:blipFill>
        <p:spPr>
          <a:xfrm>
            <a:off x="2852257" y="136525"/>
            <a:ext cx="9160778" cy="6356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0671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Under Grover’s </a:t>
            </a:r>
            <a:r>
              <a:rPr lang="en-US" altLang="zh-TW" dirty="0" err="1"/>
              <a:t>algortihm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FE8222-6EE6-4AB4-929E-E9383EC50A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AES 384 -&gt; level III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AES 512 -&gt; level V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3FE8222-6EE6-4AB4-929E-E9383EC50A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7E5F34-22BC-4C45-8439-19BC8B34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5572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Customized AES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8222-6EE6-4AB4-929E-E9383EC5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Recall parameters:</a:t>
            </a:r>
          </a:p>
          <a:p>
            <a:pPr lvl="1"/>
            <a:r>
              <a:rPr lang="en-US" altLang="zh-TW" dirty="0" err="1"/>
              <a:t>Mixcolumns</a:t>
            </a:r>
            <a:endParaRPr lang="en-US" altLang="zh-TW" dirty="0"/>
          </a:p>
          <a:p>
            <a:pPr lvl="1"/>
            <a:r>
              <a:rPr lang="en-US" altLang="zh-TW" dirty="0" err="1"/>
              <a:t>Sbox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7911A2-A041-4E93-9A70-3E6F251B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56</a:t>
            </a:fld>
            <a:endParaRPr lang="zh-TW" altLang="en-US"/>
          </a:p>
        </p:txBody>
      </p:sp>
      <p:pic>
        <p:nvPicPr>
          <p:cNvPr id="5" name="Picture 2" descr="C:\Users\shiuhungjr\Desktop\llustrates-the-encryption-decryption-rounds-of-the-AES-128-The-cipher-maintains-an.png">
            <a:extLst>
              <a:ext uri="{FF2B5EF4-FFF2-40B4-BE49-F238E27FC236}">
                <a16:creationId xmlns:a16="http://schemas.microsoft.com/office/drawing/2014/main" id="{FFF10C00-65B9-4043-9890-ECE721CAB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351" y="1207947"/>
            <a:ext cx="4755921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01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Subbytes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57</a:t>
            </a:fld>
            <a:endParaRPr lang="zh-TW" altLang="en-US"/>
          </a:p>
        </p:txBody>
      </p:sp>
      <p:pic>
        <p:nvPicPr>
          <p:cNvPr id="21506" name="Picture 2" descr="C:\Users\shiuhungjr\Desktop\aes-effecitve-software-implementation-12-63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147764"/>
            <a:ext cx="6768752" cy="508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4081573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Mixcolumns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58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23554" name="Picture 2" descr="C:\Users\shiuhungjr\Desktop\aes-effecitve-software-implementation-14-63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3" y="1147764"/>
            <a:ext cx="6683071" cy="501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1549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Inverse </a:t>
            </a:r>
            <a:r>
              <a:rPr lang="en-US" altLang="zh-TW" dirty="0" err="1"/>
              <a:t>Mixcolumns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59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24578" name="Picture 2" descr="C:\Users\shiuhungjr\Desktop\Inside+The+AES+Core+Next+State+Current+State+Inverse+MixColum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1286660"/>
            <a:ext cx="6406877" cy="480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74412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Mixcolumns</a:t>
            </a:r>
            <a:r>
              <a:rPr lang="en-US" altLang="zh-TW" dirty="0"/>
              <a:t> and Inverse </a:t>
            </a:r>
            <a:r>
              <a:rPr lang="en-US" altLang="zh-TW" dirty="0" err="1"/>
              <a:t>Mixcolumns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All the addition and multiplication are done under a Finite Field (GF(2</a:t>
            </a:r>
            <a:r>
              <a:rPr lang="en-US" altLang="zh-TW" baseline="30000" dirty="0"/>
              <a:t>8</a:t>
            </a:r>
            <a:r>
              <a:rPr lang="en-US" altLang="zh-TW" dirty="0"/>
              <a:t>)).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60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559496" y="3468323"/>
                <a:ext cx="9071778" cy="1509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03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03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03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</a:rPr>
                                        <m:t>02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500" i="1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𝐸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𝐵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09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𝐸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𝐷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𝐵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𝐷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𝐷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𝐵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𝐷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𝐸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𝐵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09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𝐸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TW" sz="2500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5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5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00</m:t>
                                      </m:r>
                                    </m:e>
                                    <m:e>
                                      <m:r>
                                        <a:rPr lang="en-US" altLang="zh-TW" sz="2500" i="1">
                                          <a:latin typeface="Cambria Math"/>
                                          <a:ea typeface="Cambria Math"/>
                                        </a:rPr>
                                        <m:t>01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3468323"/>
                <a:ext cx="9071778" cy="15096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987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Operations under GF(2</a:t>
            </a:r>
            <a:r>
              <a:rPr lang="en-US" altLang="zh-TW" baseline="30000" dirty="0"/>
              <a:t>8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⊕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𝑒𝑥𝑙𝑢𝑠𝑖𝑣𝑒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𝑜𝑟</m:t>
                        </m:r>
                      </m:e>
                    </m:d>
                  </m:oMath>
                </a14:m>
                <a:endParaRPr lang="en-US" altLang="zh-TW" b="0" dirty="0">
                  <a:latin typeface="Cambria Math"/>
                  <a:ea typeface="Cambria Math"/>
                </a:endParaRPr>
              </a:p>
              <a:p>
                <a:endParaRPr lang="en-US" altLang="zh-TW" b="0" dirty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7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6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5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4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𝑓𝑜𝑟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𝑒𝑎𝑐h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&lt;0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80, 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=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≪</m:t>
                                  </m:r>
                                  <m:r>
                                    <a:rPr lang="en-US" altLang="zh-TW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𝑖𝑓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≥0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80, 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=(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≪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)%0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11</m:t>
                              </m:r>
                              <m:r>
                                <a:rPr lang="en-US" altLang="zh-TW" b="0" i="1" smtClean="0">
                                  <a:latin typeface="Cambria Math"/>
                                  <a:ea typeface="Cambria Math"/>
                                </a:rPr>
                                <m:t>𝐵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b="0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61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2496889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Variant AES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Replace the </a:t>
            </a:r>
            <a:r>
              <a:rPr lang="en-US" altLang="zh-TW" dirty="0" err="1"/>
              <a:t>Mixcolumns</a:t>
            </a:r>
            <a:r>
              <a:rPr lang="en-US" altLang="zh-TW" dirty="0"/>
              <a:t> and find the Inverse </a:t>
            </a:r>
            <a:r>
              <a:rPr lang="en-US" altLang="zh-TW" dirty="0" err="1"/>
              <a:t>Mixcolumns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Use Gaussian-Jordan Elimination to find the inverse matrix of </a:t>
            </a:r>
            <a:r>
              <a:rPr lang="en-US" altLang="zh-TW" dirty="0" err="1"/>
              <a:t>Mixcolumns</a:t>
            </a:r>
            <a:r>
              <a:rPr lang="en-US" altLang="zh-TW" dirty="0"/>
              <a:t>. (Linear Algebra)</a:t>
            </a:r>
          </a:p>
          <a:p>
            <a:endParaRPr lang="en-US" altLang="zh-TW" dirty="0"/>
          </a:p>
          <a:p>
            <a:r>
              <a:rPr lang="en-US" altLang="zh-TW" dirty="0"/>
              <a:t>Notice that should be under GF(2</a:t>
            </a:r>
            <a:r>
              <a:rPr lang="en-US" altLang="zh-TW" baseline="30000" dirty="0"/>
              <a:t>8</a:t>
            </a:r>
            <a:r>
              <a:rPr lang="en-US" altLang="zh-TW" dirty="0"/>
              <a:t>).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62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7625982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Variant AES (2/2)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Use new S-box, not the standard.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Use Lagrange interpolation to evaluate the algebra structure, it should obtain equal or higher degree than standard S-box (255).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Algebra structure of the standard S-box: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𝑅𝐷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=05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254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+09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253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</m:t>
                      </m:r>
                      <m:r>
                        <a:rPr lang="en-US" altLang="zh-TW" b="0" i="1" smtClean="0">
                          <a:latin typeface="Cambria Math"/>
                        </a:rPr>
                        <m:t>𝐹</m:t>
                      </m:r>
                      <m:r>
                        <a:rPr lang="en-US" altLang="zh-TW" b="0" i="1" smtClean="0">
                          <a:latin typeface="Cambria Math"/>
                        </a:rPr>
                        <m:t>9∙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251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+25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247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</m:t>
                      </m:r>
                      <m:r>
                        <a:rPr lang="en-US" altLang="zh-TW" b="0" i="1" smtClean="0">
                          <a:latin typeface="Cambria Math"/>
                        </a:rPr>
                        <m:t>𝐹</m:t>
                      </m:r>
                      <m:r>
                        <a:rPr lang="en-US" altLang="zh-TW" b="0" i="1" smtClean="0">
                          <a:latin typeface="Cambria Math"/>
                        </a:rPr>
                        <m:t>4∙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239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+01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223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</m:t>
                      </m:r>
                      <m:r>
                        <a:rPr lang="en-US" altLang="zh-TW" b="0" i="1" smtClean="0">
                          <a:latin typeface="Cambria Math"/>
                        </a:rPr>
                        <m:t>𝐵</m:t>
                      </m:r>
                      <m:r>
                        <a:rPr lang="en-US" altLang="zh-TW" b="0" i="1" smtClean="0">
                          <a:latin typeface="Cambria Math"/>
                        </a:rPr>
                        <m:t>5∙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191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+8</m:t>
                      </m:r>
                      <m:r>
                        <a:rPr lang="en-US" altLang="zh-TW" b="0" i="1" smtClean="0">
                          <a:latin typeface="Cambria Math"/>
                        </a:rPr>
                        <m:t>𝐹</m:t>
                      </m:r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∙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/>
                            </a:rPr>
                            <m:t>127</m:t>
                          </m:r>
                        </m:sup>
                      </m:sSup>
                      <m:r>
                        <a:rPr lang="en-US" altLang="zh-TW" b="0" i="1" smtClean="0">
                          <a:latin typeface="Cambria Math"/>
                        </a:rPr>
                        <m:t>+63</m:t>
                      </m:r>
                    </m:oMath>
                  </m:oMathPara>
                </a14:m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63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158372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Lagrange Interpolation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64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pic>
        <p:nvPicPr>
          <p:cNvPr id="35842" name="Picture 2" descr="C:\Users\shiuhungjr\Desktop\LagrangeIntpl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1476376"/>
            <a:ext cx="8384806" cy="353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620890" y="5085185"/>
                <a:ext cx="8867598" cy="128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altLang="zh-TW" sz="2000" i="1">
                        <a:latin typeface="Cambria Math"/>
                      </a:rPr>
                      <m:t>=1, </m:t>
                    </m:r>
                    <m:r>
                      <a:rPr lang="en-US" altLang="zh-TW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/>
                      </a:rPr>
                      <m:t>=1; 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/>
                      </a:rPr>
                      <m:t>=2, </m:t>
                    </m:r>
                    <m:r>
                      <a:rPr lang="en-US" altLang="zh-TW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/>
                      </a:rPr>
                      <m:t>=8; 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sz="2000" i="1">
                        <a:latin typeface="Cambria Math"/>
                      </a:rPr>
                      <m:t>=3, </m:t>
                    </m:r>
                    <m:r>
                      <a:rPr lang="en-US" altLang="zh-TW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/>
                      </a:rPr>
                      <m:t>=27</m:t>
                    </m:r>
                  </m:oMath>
                </a14:m>
                <a:endParaRPr lang="en-US" altLang="zh-TW" sz="2000" dirty="0"/>
              </a:p>
              <a:p>
                <a:endParaRPr lang="en-US" altLang="zh-TW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altLang="zh-TW" sz="2000" i="1">
                          <a:latin typeface="Cambria Math"/>
                        </a:rPr>
                        <m:t>=1</m:t>
                      </m:r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−2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1−2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1−3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+8∙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2−1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−3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2−3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+27∙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3−1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−2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3−2</m:t>
                          </m:r>
                        </m:den>
                      </m:f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=6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altLang="zh-TW" sz="2000" i="1"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−11</m:t>
                      </m:r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altLang="zh-TW" sz="2000" i="1">
                          <a:latin typeface="Cambria Math"/>
                          <a:ea typeface="Cambria Math"/>
                        </a:rPr>
                        <m:t>+6</m:t>
                      </m:r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890" y="5085185"/>
                <a:ext cx="8867598" cy="1286121"/>
              </a:xfrm>
              <a:prstGeom prst="rect">
                <a:avLst/>
              </a:prstGeom>
              <a:blipFill>
                <a:blip r:embed="rId3"/>
                <a:stretch>
                  <a:fillRect l="-756" t="-23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6572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Signal Masking -Information Hiding (Steganography)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Use a core to run high frequency operations, it will generate higher temperature or noise to mask real encryptions.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65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104113" y="3068960"/>
            <a:ext cx="34253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Run high frequency</a:t>
            </a:r>
          </a:p>
          <a:p>
            <a:r>
              <a:rPr lang="en-US" altLang="zh-TW" sz="3200" dirty="0"/>
              <a:t>operations</a:t>
            </a:r>
            <a:endParaRPr lang="zh-TW" altLang="en-US" sz="3200" dirty="0"/>
          </a:p>
        </p:txBody>
      </p:sp>
      <p:pic>
        <p:nvPicPr>
          <p:cNvPr id="34818" name="Picture 2" descr="C:\Users\shiuhungjr\Desktop\索引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072" y="4081046"/>
            <a:ext cx="2789351" cy="277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2927649" y="3496272"/>
            <a:ext cx="1556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/>
              <a:t>Run AES</a:t>
            </a:r>
            <a:endParaRPr lang="zh-TW" altLang="en-US" sz="3200" dirty="0"/>
          </a:p>
        </p:txBody>
      </p:sp>
      <p:cxnSp>
        <p:nvCxnSpPr>
          <p:cNvPr id="8" name="直線單箭頭接點 7"/>
          <p:cNvCxnSpPr/>
          <p:nvPr/>
        </p:nvCxnSpPr>
        <p:spPr>
          <a:xfrm flipH="1" flipV="1">
            <a:off x="4483652" y="3788658"/>
            <a:ext cx="2116405" cy="10805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6" idx="2"/>
          </p:cNvCxnSpPr>
          <p:nvPr/>
        </p:nvCxnSpPr>
        <p:spPr>
          <a:xfrm flipH="1" flipV="1">
            <a:off x="3705650" y="4081046"/>
            <a:ext cx="1742278" cy="7881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flipH="1" flipV="1">
            <a:off x="3705650" y="4081046"/>
            <a:ext cx="1742278" cy="18682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6600056" y="4146178"/>
            <a:ext cx="2216736" cy="180310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Side-channel attack-resistant AES S-box with hidden subfield inversion and  glitch-free masking">
            <a:extLst>
              <a:ext uri="{FF2B5EF4-FFF2-40B4-BE49-F238E27FC236}">
                <a16:creationId xmlns:a16="http://schemas.microsoft.com/office/drawing/2014/main" id="{6AD35C9D-3636-4E35-920F-9CEEAEED1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8" y="4900788"/>
            <a:ext cx="4404861" cy="1648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0945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42F211-CBC5-4932-BD5E-50983D35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Hardware pipeline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FE8222-6EE6-4AB4-929E-E9383EC5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656D86-D274-4C2B-909F-F9955BDD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66</a:t>
            </a:fld>
            <a:endParaRPr lang="zh-TW" altLang="en-US"/>
          </a:p>
        </p:txBody>
      </p:sp>
      <p:pic>
        <p:nvPicPr>
          <p:cNvPr id="3074" name="Picture 2" descr="AES algorithm and its Hardware Implementation on FPGA- A step by step guide  | by Gourav Saini | Medium">
            <a:extLst>
              <a:ext uri="{FF2B5EF4-FFF2-40B4-BE49-F238E27FC236}">
                <a16:creationId xmlns:a16="http://schemas.microsoft.com/office/drawing/2014/main" id="{FBE2E9B3-81CE-4822-8FE0-33529FDAC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13" y="1314450"/>
            <a:ext cx="10296525" cy="554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1147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For symmetric encryption, to against SCA,</a:t>
            </a:r>
          </a:p>
          <a:p>
            <a:pPr lvl="1"/>
            <a:r>
              <a:rPr lang="en-US" altLang="zh-TW" dirty="0" err="1"/>
              <a:t>IoT</a:t>
            </a:r>
            <a:r>
              <a:rPr lang="en-US" altLang="zh-TW" dirty="0"/>
              <a:t> is a big threats of crypto-module, a slight modification of standard.</a:t>
            </a:r>
          </a:p>
          <a:p>
            <a:pPr lvl="1"/>
            <a:r>
              <a:rPr lang="en-US" altLang="zh-TW" dirty="0"/>
              <a:t>Use multicore hardware and steganography strategy.</a:t>
            </a:r>
          </a:p>
          <a:p>
            <a:endParaRPr lang="en-US" altLang="zh-TW" dirty="0"/>
          </a:p>
          <a:p>
            <a:r>
              <a:rPr lang="en-US" altLang="zh-TW" dirty="0"/>
              <a:t>For asymmetric encryption, adopt PQC and implement on FPGA to speed up.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67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7896200" y="6381328"/>
            <a:ext cx="198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Hung-Jr, </a:t>
            </a:r>
            <a:r>
              <a:rPr lang="en-US" altLang="zh-TW" b="1" dirty="0" err="1"/>
              <a:t>Shiu</a:t>
            </a:r>
            <a:r>
              <a:rPr lang="en-US" altLang="zh-TW" b="1" dirty="0"/>
              <a:t> Ph. 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2284587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FD63C4-CB32-485E-8165-118AE838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Thanks for your attention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343D06-1A5A-4C48-B1C6-D93DD984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9600" dirty="0"/>
              <a:t>Q</a:t>
            </a:r>
            <a:endParaRPr lang="zh-TW" altLang="en-US" sz="9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C6AA92-A9BE-426A-AAB0-956DDCB0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B7410-D12B-4474-9686-C2037F5B5DBC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71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1971</Words>
  <Application>Microsoft Office PowerPoint</Application>
  <PresentationFormat>寬螢幕</PresentationFormat>
  <Paragraphs>478</Paragraphs>
  <Slides>68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68</vt:i4>
      </vt:variant>
    </vt:vector>
  </HeadingPairs>
  <TitlesOfParts>
    <vt:vector size="74" baseType="lpstr">
      <vt:lpstr>Noto Sans Symbols</vt:lpstr>
      <vt:lpstr>Arial</vt:lpstr>
      <vt:lpstr>Calibri</vt:lpstr>
      <vt:lpstr>Calibri Light</vt:lpstr>
      <vt:lpstr>Cambria Math</vt:lpstr>
      <vt:lpstr>Office 佈景主題</vt:lpstr>
      <vt:lpstr>Cryptographic Schemes under Quantum Supremacy and IoT</vt:lpstr>
      <vt:lpstr>Outline</vt:lpstr>
      <vt:lpstr>Threats</vt:lpstr>
      <vt:lpstr> Shor’s Algorithm</vt:lpstr>
      <vt:lpstr>Complexity</vt:lpstr>
      <vt:lpstr>Q. Threats</vt:lpstr>
      <vt:lpstr>Standards</vt:lpstr>
      <vt:lpstr>The impact</vt:lpstr>
      <vt:lpstr>Grover’s Algorithm</vt:lpstr>
      <vt:lpstr>Security Level</vt:lpstr>
      <vt:lpstr>Qbits trend.</vt:lpstr>
      <vt:lpstr>Side-channel attacks</vt:lpstr>
      <vt:lpstr>A RSA SCA example</vt:lpstr>
      <vt:lpstr>Solutions</vt:lpstr>
      <vt:lpstr>PowerPoint 簡報</vt:lpstr>
      <vt:lpstr>Submissions</vt:lpstr>
      <vt:lpstr>Round 3</vt:lpstr>
      <vt:lpstr>Hardness of problems</vt:lpstr>
      <vt:lpstr>Lattice</vt:lpstr>
      <vt:lpstr>Recall RSA: Key Generation</vt:lpstr>
      <vt:lpstr>Recall RSA: Encryption/Decryption</vt:lpstr>
      <vt:lpstr>NTRUEncryption (1/9)</vt:lpstr>
      <vt:lpstr>NTRUEncryption (2/9)</vt:lpstr>
      <vt:lpstr>NTRUEncryption (3/9)</vt:lpstr>
      <vt:lpstr>NTRUEncryption (4/9)</vt:lpstr>
      <vt:lpstr>NTRUEncryption (5/9)</vt:lpstr>
      <vt:lpstr>NTRUEncryption (6/9)</vt:lpstr>
      <vt:lpstr>NTRUEncryption (7/9)</vt:lpstr>
      <vt:lpstr>NTRUEncryption (8/9)</vt:lpstr>
      <vt:lpstr>NTRUEncryption (9/9)</vt:lpstr>
      <vt:lpstr>Lattice and NTRUEncryption</vt:lpstr>
      <vt:lpstr>Code based</vt:lpstr>
      <vt:lpstr>McEliece (1/13)</vt:lpstr>
      <vt:lpstr>McEliece (2/13)</vt:lpstr>
      <vt:lpstr>McEliece (3/13)</vt:lpstr>
      <vt:lpstr>McEliece (4/13)</vt:lpstr>
      <vt:lpstr>McEliece (5/13)</vt:lpstr>
      <vt:lpstr>McEliece (6/13)</vt:lpstr>
      <vt:lpstr>McEliece (7/13)</vt:lpstr>
      <vt:lpstr>McEliece (8/13)</vt:lpstr>
      <vt:lpstr>McEliece (9/13)</vt:lpstr>
      <vt:lpstr>McEliece (10/13)</vt:lpstr>
      <vt:lpstr>McEliece (11/13)</vt:lpstr>
      <vt:lpstr>McEliece (12/13)</vt:lpstr>
      <vt:lpstr>McEliece (13/13)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Recall AES key scheduling</vt:lpstr>
      <vt:lpstr>AES 384</vt:lpstr>
      <vt:lpstr>AES 512</vt:lpstr>
      <vt:lpstr>Under Grover’s algortihm</vt:lpstr>
      <vt:lpstr>Customized AES</vt:lpstr>
      <vt:lpstr>Subbytes</vt:lpstr>
      <vt:lpstr>Mixcolumns</vt:lpstr>
      <vt:lpstr>Inverse Mixcolumns</vt:lpstr>
      <vt:lpstr>Mixcolumns and Inverse Mixcolumns</vt:lpstr>
      <vt:lpstr>Operations under GF(28)</vt:lpstr>
      <vt:lpstr>Variant AES (1/2)</vt:lpstr>
      <vt:lpstr>Variant AES (2/2)</vt:lpstr>
      <vt:lpstr>Lagrange Interpolation</vt:lpstr>
      <vt:lpstr>Signal Masking -Information Hiding (Steganography)</vt:lpstr>
      <vt:lpstr>Hardware pipeline</vt:lpstr>
      <vt:lpstr>Conclusions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 under Quantum Supremacy and IoT</dc:title>
  <dc:creator>許宏誌(hjshiu)</dc:creator>
  <cp:lastModifiedBy>ShiuHungJr</cp:lastModifiedBy>
  <cp:revision>24</cp:revision>
  <dcterms:created xsi:type="dcterms:W3CDTF">2022-05-19T13:59:26Z</dcterms:created>
  <dcterms:modified xsi:type="dcterms:W3CDTF">2023-05-11T13:04:05Z</dcterms:modified>
</cp:coreProperties>
</file>